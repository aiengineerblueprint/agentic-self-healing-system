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94622"/>
  </p:normalViewPr>
  <p:slideViewPr>
    <p:cSldViewPr snapToGrid="0" snapToObjects="1">
      <p:cViewPr varScale="1">
        <p:scale>
          <a:sx n="113" d="100"/>
          <a:sy n="113" d="100"/>
        </p:scale>
        <p:origin x="712"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6877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Hold this while people settle. Do not open with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Ask the room: how long from page to the right team having the ticket? Nobody answers 'under an hour'. That gap is what this attacks — not typing speed.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slide that makes the rest matter. In most orgs this is a 40-minute conference call before anyone writes a line of code.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you take one thing away, take this. A demo where you ask an LLM 'who broke this?' proves nothing — you cannot audit it, and it will be confidently wrong at the worst possible moment.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seconds. Trace one request left to right, then point at the purple arrows: every span carries code.repository, the join key that turns a failing span into an owner with no lookup table and no guessing.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asked 'why 0.88?' — a conclusive schema violation is proof, not inference. Anyone in the room can re-run that check and get the same answer.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Different teams will want different answers, and they should be able to set them without touching code.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of these are proven to refuse in the phase-2 suite. Not 'configured to' — proven, with the refusal written to the audit trail.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most important slide for a skeptical engineer.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honest framing: you should not trust the model. You should trust the envelope around it — and that envelope is code you can read.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capability is behaving perfectly — that response validates against its own schema. Every naive system starts by blaming what it called.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money beat. Mention the second incident opened for cap-calc — the middle capability failed too, and was attributed to the same owner. That is blast radius doing real work.</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Click into the Act 2 incident live. Collapse the decision feed and say: thirty-three decisions, every one with the evidence that justified it.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lead with 'saves engineer hours'. Lead with 'ends the ownership argument'. Engineering leaders feel that pain far more sharply.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Volunteering this is what makes the earlier slides credible. Do not skip it.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someone asks 'can we run this next quarter?' the answer is no — and the next five slides are why that is fine.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two are what turn this from a demo into something a team could actually adopt.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most intellectually interesting gap in the system.</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turns 'trust the envelope' into 'here is the measured track record'. A year of episodes makes this a completely different pitch.</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Adding a service is already a YAML edit — that groundwork is done.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let these overshadow the near-term slides, which are the ones that actually get funded.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here. Then take questions.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Leave this up during Q&amp;A.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095847" y="0"/>
            <a:ext cx="6095847" cy="118872"/>
          </a:xfrm>
          <a:prstGeom prst="rect">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_hi.png"/>
          <p:cNvPicPr>
            <a:picLocks noChangeAspect="1"/>
          </p:cNvPicPr>
          <p:nvPr/>
        </p:nvPicPr>
        <p:blipFill>
          <a:blip r:embed="rId3"/>
          <a:stretch>
            <a:fillRect/>
          </a:stretch>
        </p:blipFill>
        <p:spPr>
          <a:xfrm>
            <a:off x="2593847" y="1874519"/>
            <a:ext cx="6973824" cy="2011680"/>
          </a:xfrm>
          <a:prstGeom prst="rect">
            <a:avLst/>
          </a:prstGeom>
        </p:spPr>
      </p:pic>
      <p:sp>
        <p:nvSpPr>
          <p:cNvPr id="5" name="TextBox 4"/>
          <p:cNvSpPr txBox="1"/>
          <p:nvPr/>
        </p:nvSpPr>
        <p:spPr>
          <a:xfrm>
            <a:off x="777240" y="4069080"/>
            <a:ext cx="10637215" cy="365760"/>
          </a:xfrm>
          <a:prstGeom prst="rect">
            <a:avLst/>
          </a:prstGeom>
          <a:noFill/>
        </p:spPr>
        <p:txBody>
          <a:bodyPr wrap="square" lIns="0" tIns="0" rIns="0" bIns="0" anchor="t">
            <a:spAutoFit/>
          </a:bodyPr>
          <a:lstStyle/>
          <a:p>
            <a:pPr algn="ctr">
              <a:lnSpc>
                <a:spcPct val="128000"/>
              </a:lnSpc>
              <a:spcAft>
                <a:spcPts val="0"/>
              </a:spcAft>
            </a:pPr>
            <a:r>
              <a:rPr sz="1900" b="0" i="0">
                <a:solidFill>
                  <a:srgbClr val="334155"/>
                </a:solidFill>
                <a:latin typeface="Helvetica Neue"/>
              </a:rPr>
              <a:t>An autonomous repair control plane for multi-team service estates</a:t>
            </a:r>
          </a:p>
        </p:txBody>
      </p:sp>
      <p:sp>
        <p:nvSpPr>
          <p:cNvPr id="6" name="Rectangle 5"/>
          <p:cNvSpPr/>
          <p:nvPr/>
        </p:nvSpPr>
        <p:spPr>
          <a:xfrm>
            <a:off x="5090007" y="4617720"/>
            <a:ext cx="201168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4846320"/>
            <a:ext cx="10637215" cy="274320"/>
          </a:xfrm>
          <a:prstGeom prst="rect">
            <a:avLst/>
          </a:prstGeom>
          <a:noFill/>
        </p:spPr>
        <p:txBody>
          <a:bodyPr wrap="square" lIns="0" tIns="0" rIns="0" bIns="0" anchor="t">
            <a:spAutoFit/>
          </a:bodyPr>
          <a:lstStyle/>
          <a:p>
            <a:pPr algn="ctr">
              <a:lnSpc>
                <a:spcPct val="128000"/>
              </a:lnSpc>
              <a:spcAft>
                <a:spcPts val="0"/>
              </a:spcAft>
            </a:pPr>
            <a:r>
              <a:rPr sz="1350" b="0" i="0">
                <a:solidFill>
                  <a:srgbClr val="64748B"/>
                </a:solidFill>
                <a:latin typeface="Helvetica Neue"/>
              </a:rPr>
              <a:t>It finds the failure, works out whose bug it is, fixes it in the right repository, and proves the fix held.</a:t>
            </a:r>
          </a:p>
        </p:txBody>
      </p:sp>
      <p:sp>
        <p:nvSpPr>
          <p:cNvPr id="8" name="TextBox 7"/>
          <p:cNvSpPr txBox="1"/>
          <p:nvPr/>
        </p:nvSpPr>
        <p:spPr>
          <a:xfrm>
            <a:off x="777240" y="5887720"/>
            <a:ext cx="10637215" cy="422103"/>
          </a:xfrm>
          <a:prstGeom prst="rect">
            <a:avLst/>
          </a:prstGeom>
          <a:noFill/>
        </p:spPr>
        <p:txBody>
          <a:bodyPr wrap="square" lIns="0" tIns="0" rIns="0" bIns="0" anchor="t">
            <a:spAutoFit/>
          </a:bodyPr>
          <a:lstStyle/>
          <a:p>
            <a:pPr algn="ctr">
              <a:lnSpc>
                <a:spcPct val="128000"/>
              </a:lnSpc>
              <a:spcAft>
                <a:spcPts val="0"/>
              </a:spcAft>
            </a:pPr>
            <a:r>
              <a:rPr lang="en-US" sz="2400" b="1" i="0" dirty="0">
                <a:solidFill>
                  <a:srgbClr val="94A3B8"/>
                </a:solidFill>
                <a:latin typeface="Helvetica Neue"/>
              </a:rPr>
              <a:t>Pushkar</a:t>
            </a:r>
            <a:r>
              <a:rPr sz="2400" b="1" i="0" dirty="0">
                <a:solidFill>
                  <a:srgbClr val="94A3B8"/>
                </a:solidFill>
                <a:latin typeface="Helvetica Neue"/>
              </a:rPr>
              <a:t>  </a:t>
            </a:r>
            <a:r>
              <a:rPr lang="en-US" sz="2400" b="1" i="0" dirty="0">
                <a:solidFill>
                  <a:srgbClr val="94A3B8"/>
                </a:solidFill>
                <a:latin typeface="Helvetica Neue"/>
              </a:rPr>
              <a:t>Mishra</a:t>
            </a:r>
            <a:endParaRPr sz="2400" b="1" i="0" dirty="0">
              <a:solidFill>
                <a:srgbClr val="94A3B8"/>
              </a:solidFill>
              <a:latin typeface="Helvetica Neu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77240" y="420624"/>
            <a:ext cx="10637215" cy="219456"/>
          </a:xfrm>
          <a:prstGeom prst="rect">
            <a:avLst/>
          </a:prstGeom>
          <a:noFill/>
        </p:spPr>
        <p:txBody>
          <a:bodyPr wrap="square" lIns="0" tIns="0" rIns="0" bIns="0" anchor="t">
            <a:spAutoFit/>
          </a:bodyPr>
          <a:lstStyle/>
          <a:p>
            <a:pPr algn="l">
              <a:lnSpc>
                <a:spcPct val="128000"/>
              </a:lnSpc>
              <a:spcAft>
                <a:spcPts val="0"/>
              </a:spcAft>
            </a:pPr>
            <a:r>
              <a:rPr sz="950" b="1" i="0" spc="160">
                <a:solidFill>
                  <a:srgbClr val="2F81F7"/>
                </a:solidFill>
                <a:latin typeface="Helvetica Neue"/>
              </a:rPr>
              <a:t>THE PROBLEM</a:t>
            </a:r>
          </a:p>
        </p:txBody>
      </p:sp>
      <p:sp>
        <p:nvSpPr>
          <p:cNvPr id="3" name="TextBox 2"/>
          <p:cNvSpPr txBox="1"/>
          <p:nvPr/>
        </p:nvSpPr>
        <p:spPr>
          <a:xfrm>
            <a:off x="777240" y="658368"/>
            <a:ext cx="10637215" cy="566928"/>
          </a:xfrm>
          <a:prstGeom prst="rect">
            <a:avLst/>
          </a:prstGeom>
          <a:noFill/>
        </p:spPr>
        <p:txBody>
          <a:bodyPr wrap="square" lIns="0" tIns="0" rIns="0" bIns="0" anchor="t">
            <a:spAutoFit/>
          </a:bodyPr>
          <a:lstStyle/>
          <a:p>
            <a:pPr algn="l">
              <a:lnSpc>
                <a:spcPct val="106000"/>
              </a:lnSpc>
              <a:spcAft>
                <a:spcPts val="0"/>
              </a:spcAft>
            </a:pPr>
            <a:r>
              <a:rPr sz="2900" b="1" i="0">
                <a:solidFill>
                  <a:srgbClr val="0F172A"/>
                </a:solidFill>
                <a:latin typeface="Helvetica Neue"/>
              </a:rPr>
              <a:t>A 500 in production names nobody</a:t>
            </a:r>
          </a:p>
        </p:txBody>
      </p:sp>
      <p:sp>
        <p:nvSpPr>
          <p:cNvPr id="4" name="Rectangle 3"/>
          <p:cNvSpPr/>
          <p:nvPr/>
        </p:nvSpPr>
        <p:spPr>
          <a:xfrm>
            <a:off x="777240" y="1316736"/>
            <a:ext cx="1051560" cy="25400"/>
          </a:xfrm>
          <a:prstGeom prst="rect">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6382512"/>
            <a:ext cx="5486400" cy="201168"/>
          </a:xfrm>
          <a:prstGeom prst="rect">
            <a:avLst/>
          </a:prstGeom>
          <a:noFill/>
        </p:spPr>
        <p:txBody>
          <a:bodyPr wrap="square" lIns="0" tIns="0" rIns="0" bIns="0" anchor="t">
            <a:spAutoFit/>
          </a:bodyPr>
          <a:lstStyle/>
          <a:p>
            <a:pPr algn="l">
              <a:lnSpc>
                <a:spcPct val="128000"/>
              </a:lnSpc>
              <a:spcAft>
                <a:spcPts val="0"/>
              </a:spcAft>
            </a:pPr>
            <a:r>
              <a:rPr sz="850" b="0" i="0">
                <a:solidFill>
                  <a:srgbClr val="94A3B8"/>
                </a:solidFill>
                <a:latin typeface="Helvetica Neue"/>
              </a:rPr>
              <a:t>ASHS · Agentic Self-Healing System</a:t>
            </a:r>
          </a:p>
        </p:txBody>
      </p:sp>
      <p:sp>
        <p:nvSpPr>
          <p:cNvPr id="6" name="TextBox 5"/>
          <p:cNvSpPr txBox="1"/>
          <p:nvPr/>
        </p:nvSpPr>
        <p:spPr>
          <a:xfrm>
            <a:off x="10500055" y="6382512"/>
            <a:ext cx="914400" cy="201168"/>
          </a:xfrm>
          <a:prstGeom prst="rect">
            <a:avLst/>
          </a:prstGeom>
          <a:noFill/>
        </p:spPr>
        <p:txBody>
          <a:bodyPr wrap="square" lIns="0" tIns="0" rIns="0" bIns="0" anchor="t">
            <a:spAutoFit/>
          </a:bodyPr>
          <a:lstStyle/>
          <a:p>
            <a:pPr algn="r">
              <a:lnSpc>
                <a:spcPct val="128000"/>
              </a:lnSpc>
              <a:spcAft>
                <a:spcPts val="0"/>
              </a:spcAft>
            </a:pPr>
            <a:r>
              <a:rPr sz="850" b="0" i="0">
                <a:solidFill>
                  <a:srgbClr val="94A3B8"/>
                </a:solidFill>
                <a:latin typeface="Helvetica Neue"/>
              </a:rPr>
              <a:t>1</a:t>
            </a:r>
          </a:p>
        </p:txBody>
      </p:sp>
      <p:sp>
        <p:nvSpPr>
          <p:cNvPr id="7" name="TextBox 6"/>
          <p:cNvSpPr txBox="1"/>
          <p:nvPr/>
        </p:nvSpPr>
        <p:spPr>
          <a:xfrm>
            <a:off x="777240" y="1627632"/>
            <a:ext cx="10637215" cy="365760"/>
          </a:xfrm>
          <a:prstGeom prst="rect">
            <a:avLst/>
          </a:prstGeom>
          <a:noFill/>
        </p:spPr>
        <p:txBody>
          <a:bodyPr wrap="square" lIns="0" tIns="0" rIns="0" bIns="0" anchor="t">
            <a:spAutoFit/>
          </a:bodyPr>
          <a:lstStyle/>
          <a:p>
            <a:pPr algn="l">
              <a:lnSpc>
                <a:spcPct val="128000"/>
              </a:lnSpc>
              <a:spcAft>
                <a:spcPts val="0"/>
              </a:spcAft>
            </a:pPr>
            <a:r>
              <a:rPr sz="1550" b="0" i="0">
                <a:solidFill>
                  <a:srgbClr val="334155"/>
                </a:solidFill>
                <a:latin typeface="Helvetica Neue"/>
              </a:rPr>
              <a:t>When a user-facing request fails across a service boundary, here is where the time actually goes:</a:t>
            </a:r>
          </a:p>
        </p:txBody>
      </p:sp>
      <p:sp>
        <p:nvSpPr>
          <p:cNvPr id="8" name="TextBox 7"/>
          <p:cNvSpPr txBox="1"/>
          <p:nvPr/>
        </p:nvSpPr>
        <p:spPr>
          <a:xfrm>
            <a:off x="777240" y="2240280"/>
            <a:ext cx="3931920"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Step</a:t>
            </a:r>
          </a:p>
        </p:txBody>
      </p:sp>
      <p:sp>
        <p:nvSpPr>
          <p:cNvPr id="9" name="TextBox 8"/>
          <p:cNvSpPr txBox="1"/>
          <p:nvPr/>
        </p:nvSpPr>
        <p:spPr>
          <a:xfrm>
            <a:off x="4709159" y="2240280"/>
            <a:ext cx="3657600"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Who does it</a:t>
            </a:r>
          </a:p>
        </p:txBody>
      </p:sp>
      <p:sp>
        <p:nvSpPr>
          <p:cNvPr id="10" name="TextBox 9"/>
          <p:cNvSpPr txBox="1"/>
          <p:nvPr/>
        </p:nvSpPr>
        <p:spPr>
          <a:xfrm>
            <a:off x="8366759" y="2240280"/>
            <a:ext cx="3017520"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Typical cost</a:t>
            </a:r>
          </a:p>
        </p:txBody>
      </p:sp>
      <p:sp>
        <p:nvSpPr>
          <p:cNvPr id="11" name="Rectangle 10"/>
          <p:cNvSpPr/>
          <p:nvPr/>
        </p:nvSpPr>
        <p:spPr>
          <a:xfrm>
            <a:off x="777240" y="2532888"/>
            <a:ext cx="1060704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660904"/>
            <a:ext cx="3785615"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Notice it</a:t>
            </a:r>
          </a:p>
        </p:txBody>
      </p:sp>
      <p:sp>
        <p:nvSpPr>
          <p:cNvPr id="13" name="TextBox 12"/>
          <p:cNvSpPr txBox="1"/>
          <p:nvPr/>
        </p:nvSpPr>
        <p:spPr>
          <a:xfrm>
            <a:off x="4709159" y="2660904"/>
            <a:ext cx="351129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On-call — or a customer</a:t>
            </a:r>
          </a:p>
        </p:txBody>
      </p:sp>
      <p:sp>
        <p:nvSpPr>
          <p:cNvPr id="14" name="TextBox 13"/>
          <p:cNvSpPr txBox="1"/>
          <p:nvPr/>
        </p:nvSpPr>
        <p:spPr>
          <a:xfrm>
            <a:off x="8366759" y="2660904"/>
            <a:ext cx="2871215"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Minutes to hours</a:t>
            </a:r>
          </a:p>
        </p:txBody>
      </p:sp>
      <p:sp>
        <p:nvSpPr>
          <p:cNvPr id="15" name="Rectangle 14"/>
          <p:cNvSpPr/>
          <p:nvPr/>
        </p:nvSpPr>
        <p:spPr>
          <a:xfrm>
            <a:off x="667512" y="2999232"/>
            <a:ext cx="10826496" cy="38404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3063240"/>
            <a:ext cx="3785615"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Work out whose bug it is</a:t>
            </a:r>
          </a:p>
        </p:txBody>
      </p:sp>
      <p:sp>
        <p:nvSpPr>
          <p:cNvPr id="17" name="TextBox 16"/>
          <p:cNvSpPr txBox="1"/>
          <p:nvPr/>
        </p:nvSpPr>
        <p:spPr>
          <a:xfrm>
            <a:off x="4709159" y="3063240"/>
            <a:ext cx="351129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Three teams on a call</a:t>
            </a:r>
          </a:p>
        </p:txBody>
      </p:sp>
      <p:sp>
        <p:nvSpPr>
          <p:cNvPr id="18" name="TextBox 17"/>
          <p:cNvSpPr txBox="1"/>
          <p:nvPr/>
        </p:nvSpPr>
        <p:spPr>
          <a:xfrm>
            <a:off x="8366759" y="3063240"/>
            <a:ext cx="2871215" cy="256032"/>
          </a:xfrm>
          <a:prstGeom prst="rect">
            <a:avLst/>
          </a:prstGeom>
          <a:noFill/>
        </p:spPr>
        <p:txBody>
          <a:bodyPr wrap="square" lIns="0" tIns="0" rIns="0" bIns="0" anchor="t">
            <a:spAutoFit/>
          </a:bodyPr>
          <a:lstStyle/>
          <a:p>
            <a:pPr algn="l">
              <a:lnSpc>
                <a:spcPct val="118000"/>
              </a:lnSpc>
              <a:spcAft>
                <a:spcPts val="0"/>
              </a:spcAft>
            </a:pPr>
            <a:r>
              <a:rPr sz="1300" b="1" i="0">
                <a:solidFill>
                  <a:srgbClr val="B91C1C"/>
                </a:solidFill>
                <a:latin typeface="Helvetica Neue"/>
              </a:rPr>
              <a:t>Hours to days</a:t>
            </a:r>
          </a:p>
        </p:txBody>
      </p:sp>
      <p:sp>
        <p:nvSpPr>
          <p:cNvPr id="19" name="TextBox 18"/>
          <p:cNvSpPr txBox="1"/>
          <p:nvPr/>
        </p:nvSpPr>
        <p:spPr>
          <a:xfrm>
            <a:off x="777240" y="3465576"/>
            <a:ext cx="3785615"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Convince the owning team</a:t>
            </a:r>
          </a:p>
        </p:txBody>
      </p:sp>
      <p:sp>
        <p:nvSpPr>
          <p:cNvPr id="20" name="TextBox 19"/>
          <p:cNvSpPr txBox="1"/>
          <p:nvPr/>
        </p:nvSpPr>
        <p:spPr>
          <a:xfrm>
            <a:off x="4709159" y="3465576"/>
            <a:ext cx="351129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Politics</a:t>
            </a:r>
          </a:p>
        </p:txBody>
      </p:sp>
      <p:sp>
        <p:nvSpPr>
          <p:cNvPr id="21" name="TextBox 20"/>
          <p:cNvSpPr txBox="1"/>
          <p:nvPr/>
        </p:nvSpPr>
        <p:spPr>
          <a:xfrm>
            <a:off x="8366759" y="3465576"/>
            <a:ext cx="2871215" cy="256032"/>
          </a:xfrm>
          <a:prstGeom prst="rect">
            <a:avLst/>
          </a:prstGeom>
          <a:noFill/>
        </p:spPr>
        <p:txBody>
          <a:bodyPr wrap="square" lIns="0" tIns="0" rIns="0" bIns="0" anchor="t">
            <a:spAutoFit/>
          </a:bodyPr>
          <a:lstStyle/>
          <a:p>
            <a:pPr algn="l">
              <a:lnSpc>
                <a:spcPct val="118000"/>
              </a:lnSpc>
              <a:spcAft>
                <a:spcPts val="0"/>
              </a:spcAft>
            </a:pPr>
            <a:r>
              <a:rPr sz="1300" b="1" i="0">
                <a:solidFill>
                  <a:srgbClr val="B91C1C"/>
                </a:solidFill>
                <a:latin typeface="Helvetica Neue"/>
              </a:rPr>
              <a:t>Hours to days</a:t>
            </a:r>
          </a:p>
        </p:txBody>
      </p:sp>
      <p:sp>
        <p:nvSpPr>
          <p:cNvPr id="22" name="Rectangle 21"/>
          <p:cNvSpPr/>
          <p:nvPr/>
        </p:nvSpPr>
        <p:spPr>
          <a:xfrm>
            <a:off x="667512" y="3803904"/>
            <a:ext cx="10826496" cy="38404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3867912"/>
            <a:ext cx="3785615"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Write the fix</a:t>
            </a:r>
          </a:p>
        </p:txBody>
      </p:sp>
      <p:sp>
        <p:nvSpPr>
          <p:cNvPr id="24" name="TextBox 23"/>
          <p:cNvSpPr txBox="1"/>
          <p:nvPr/>
        </p:nvSpPr>
        <p:spPr>
          <a:xfrm>
            <a:off x="4709159" y="3867912"/>
            <a:ext cx="351129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One engineer</a:t>
            </a:r>
          </a:p>
        </p:txBody>
      </p:sp>
      <p:sp>
        <p:nvSpPr>
          <p:cNvPr id="25" name="TextBox 24"/>
          <p:cNvSpPr txBox="1"/>
          <p:nvPr/>
        </p:nvSpPr>
        <p:spPr>
          <a:xfrm>
            <a:off x="8366759" y="3867912"/>
            <a:ext cx="2871215"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Minutes</a:t>
            </a:r>
          </a:p>
        </p:txBody>
      </p:sp>
      <p:sp>
        <p:nvSpPr>
          <p:cNvPr id="26" name="TextBox 25"/>
          <p:cNvSpPr txBox="1"/>
          <p:nvPr/>
        </p:nvSpPr>
        <p:spPr>
          <a:xfrm>
            <a:off x="777240" y="4270248"/>
            <a:ext cx="3785615"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Prove it worked</a:t>
            </a:r>
          </a:p>
        </p:txBody>
      </p:sp>
      <p:sp>
        <p:nvSpPr>
          <p:cNvPr id="27" name="TextBox 26"/>
          <p:cNvSpPr txBox="1"/>
          <p:nvPr/>
        </p:nvSpPr>
        <p:spPr>
          <a:xfrm>
            <a:off x="4709159" y="4270248"/>
            <a:ext cx="351129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Often skipped</a:t>
            </a:r>
          </a:p>
        </p:txBody>
      </p:sp>
      <p:sp>
        <p:nvSpPr>
          <p:cNvPr id="28" name="TextBox 27"/>
          <p:cNvSpPr txBox="1"/>
          <p:nvPr/>
        </p:nvSpPr>
        <p:spPr>
          <a:xfrm>
            <a:off x="8366759" y="4270248"/>
            <a:ext cx="2871215"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a:t>
            </a:r>
          </a:p>
        </p:txBody>
      </p:sp>
      <p:sp>
        <p:nvSpPr>
          <p:cNvPr id="29" name="Rectangle 28"/>
          <p:cNvSpPr/>
          <p:nvPr/>
        </p:nvSpPr>
        <p:spPr>
          <a:xfrm>
            <a:off x="777240" y="4992624"/>
            <a:ext cx="10637215" cy="56692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77240" y="4992624"/>
            <a:ext cx="41148" cy="566928"/>
          </a:xfrm>
          <a:prstGeom prst="rect">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33271" y="4992624"/>
            <a:ext cx="10180015" cy="566928"/>
          </a:xfrm>
          <a:prstGeom prst="rect">
            <a:avLst/>
          </a:prstGeom>
          <a:noFill/>
        </p:spPr>
        <p:txBody>
          <a:bodyPr wrap="square" lIns="0" tIns="0" rIns="0" bIns="0" anchor="ctr">
            <a:spAutoFit/>
          </a:bodyPr>
          <a:lstStyle/>
          <a:p>
            <a:pPr algn="l">
              <a:lnSpc>
                <a:spcPct val="124000"/>
              </a:lnSpc>
              <a:spcAft>
                <a:spcPts val="0"/>
              </a:spcAft>
            </a:pPr>
            <a:r>
              <a:rPr sz="1700" b="1" i="0">
                <a:solidFill>
                  <a:srgbClr val="0F172A"/>
                </a:solidFill>
                <a:latin typeface="Helvetica Neue"/>
              </a:rPr>
              <a:t>The fix is the cheapest step. Everything around it is the cost.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77240" y="420624"/>
            <a:ext cx="10637215" cy="219456"/>
          </a:xfrm>
          <a:prstGeom prst="rect">
            <a:avLst/>
          </a:prstGeom>
          <a:noFill/>
        </p:spPr>
        <p:txBody>
          <a:bodyPr wrap="square" lIns="0" tIns="0" rIns="0" bIns="0" anchor="t">
            <a:spAutoFit/>
          </a:bodyPr>
          <a:lstStyle/>
          <a:p>
            <a:pPr algn="l">
              <a:lnSpc>
                <a:spcPct val="128000"/>
              </a:lnSpc>
              <a:spcAft>
                <a:spcPts val="0"/>
              </a:spcAft>
            </a:pPr>
            <a:r>
              <a:rPr sz="950" b="1" i="0" spc="160">
                <a:solidFill>
                  <a:srgbClr val="2F81F7"/>
                </a:solidFill>
                <a:latin typeface="Helvetica Neue"/>
              </a:rPr>
              <a:t>THE PROBLEM</a:t>
            </a:r>
          </a:p>
        </p:txBody>
      </p:sp>
      <p:sp>
        <p:nvSpPr>
          <p:cNvPr id="3" name="TextBox 2"/>
          <p:cNvSpPr txBox="1"/>
          <p:nvPr/>
        </p:nvSpPr>
        <p:spPr>
          <a:xfrm>
            <a:off x="777240" y="658368"/>
            <a:ext cx="10637215" cy="566928"/>
          </a:xfrm>
          <a:prstGeom prst="rect">
            <a:avLst/>
          </a:prstGeom>
          <a:noFill/>
        </p:spPr>
        <p:txBody>
          <a:bodyPr wrap="square" lIns="0" tIns="0" rIns="0" bIns="0" anchor="t">
            <a:spAutoFit/>
          </a:bodyPr>
          <a:lstStyle/>
          <a:p>
            <a:pPr algn="l">
              <a:lnSpc>
                <a:spcPct val="106000"/>
              </a:lnSpc>
              <a:spcAft>
                <a:spcPts val="0"/>
              </a:spcAft>
            </a:pPr>
            <a:r>
              <a:rPr sz="2900" b="1" i="0">
                <a:solidFill>
                  <a:srgbClr val="0F172A"/>
                </a:solidFill>
                <a:latin typeface="Helvetica Neue"/>
              </a:rPr>
              <a:t>Why attribution is the hard part</a:t>
            </a:r>
          </a:p>
        </p:txBody>
      </p:sp>
      <p:sp>
        <p:nvSpPr>
          <p:cNvPr id="4" name="Rectangle 3"/>
          <p:cNvSpPr/>
          <p:nvPr/>
        </p:nvSpPr>
        <p:spPr>
          <a:xfrm>
            <a:off x="777240" y="1316736"/>
            <a:ext cx="1051560" cy="25400"/>
          </a:xfrm>
          <a:prstGeom prst="rect">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6382512"/>
            <a:ext cx="5486400" cy="201168"/>
          </a:xfrm>
          <a:prstGeom prst="rect">
            <a:avLst/>
          </a:prstGeom>
          <a:noFill/>
        </p:spPr>
        <p:txBody>
          <a:bodyPr wrap="square" lIns="0" tIns="0" rIns="0" bIns="0" anchor="t">
            <a:spAutoFit/>
          </a:bodyPr>
          <a:lstStyle/>
          <a:p>
            <a:pPr algn="l">
              <a:lnSpc>
                <a:spcPct val="128000"/>
              </a:lnSpc>
              <a:spcAft>
                <a:spcPts val="0"/>
              </a:spcAft>
            </a:pPr>
            <a:r>
              <a:rPr sz="850" b="0" i="0">
                <a:solidFill>
                  <a:srgbClr val="94A3B8"/>
                </a:solidFill>
                <a:latin typeface="Helvetica Neue"/>
              </a:rPr>
              <a:t>ASHS · Agentic Self-Healing System</a:t>
            </a:r>
          </a:p>
        </p:txBody>
      </p:sp>
      <p:sp>
        <p:nvSpPr>
          <p:cNvPr id="6" name="TextBox 5"/>
          <p:cNvSpPr txBox="1"/>
          <p:nvPr/>
        </p:nvSpPr>
        <p:spPr>
          <a:xfrm>
            <a:off x="10500055" y="6382512"/>
            <a:ext cx="914400" cy="201168"/>
          </a:xfrm>
          <a:prstGeom prst="rect">
            <a:avLst/>
          </a:prstGeom>
          <a:noFill/>
        </p:spPr>
        <p:txBody>
          <a:bodyPr wrap="square" lIns="0" tIns="0" rIns="0" bIns="0" anchor="t">
            <a:spAutoFit/>
          </a:bodyPr>
          <a:lstStyle/>
          <a:p>
            <a:pPr algn="r">
              <a:lnSpc>
                <a:spcPct val="128000"/>
              </a:lnSpc>
              <a:spcAft>
                <a:spcPts val="0"/>
              </a:spcAft>
            </a:pPr>
            <a:r>
              <a:rPr sz="850" b="0" i="0">
                <a:solidFill>
                  <a:srgbClr val="94A3B8"/>
                </a:solidFill>
                <a:latin typeface="Helvetica Neue"/>
              </a:rPr>
              <a:t>2</a:t>
            </a:r>
          </a:p>
        </p:txBody>
      </p:sp>
      <p:sp>
        <p:nvSpPr>
          <p:cNvPr id="7" name="TextBox 6"/>
          <p:cNvSpPr txBox="1"/>
          <p:nvPr/>
        </p:nvSpPr>
        <p:spPr>
          <a:xfrm>
            <a:off x="777240" y="1627632"/>
            <a:ext cx="10637215" cy="274320"/>
          </a:xfrm>
          <a:prstGeom prst="rect">
            <a:avLst/>
          </a:prstGeom>
          <a:noFill/>
        </p:spPr>
        <p:txBody>
          <a:bodyPr wrap="square" lIns="0" tIns="0" rIns="0" bIns="0" anchor="t">
            <a:spAutoFit/>
          </a:bodyPr>
          <a:lstStyle/>
          <a:p>
            <a:pPr algn="l">
              <a:lnSpc>
                <a:spcPct val="128000"/>
              </a:lnSpc>
              <a:spcAft>
                <a:spcPts val="0"/>
              </a:spcAft>
            </a:pPr>
            <a:r>
              <a:rPr sz="1550" b="0" i="0">
                <a:solidFill>
                  <a:srgbClr val="334155"/>
                </a:solidFill>
                <a:latin typeface="Helvetica Neue"/>
              </a:rPr>
              <a:t>A user hits POST /api/footprint/calculate. It returns 500. The error surfaced in the product. The cause could be:</a:t>
            </a:r>
          </a:p>
        </p:txBody>
      </p:sp>
      <p:sp>
        <p:nvSpPr>
          <p:cNvPr id="8" name="TextBox 7"/>
          <p:cNvSpPr txBox="1"/>
          <p:nvPr/>
        </p:nvSpPr>
        <p:spPr>
          <a:xfrm>
            <a:off x="777240" y="2240280"/>
            <a:ext cx="5852160"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Candidate</a:t>
            </a:r>
          </a:p>
        </p:txBody>
      </p:sp>
      <p:sp>
        <p:nvSpPr>
          <p:cNvPr id="9" name="TextBox 8"/>
          <p:cNvSpPr txBox="1"/>
          <p:nvPr/>
        </p:nvSpPr>
        <p:spPr>
          <a:xfrm>
            <a:off x="6629400" y="2240280"/>
            <a:ext cx="4754880"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Distance from the symptom</a:t>
            </a:r>
          </a:p>
        </p:txBody>
      </p:sp>
      <p:sp>
        <p:nvSpPr>
          <p:cNvPr id="10" name="Rectangle 9"/>
          <p:cNvSpPr/>
          <p:nvPr/>
        </p:nvSpPr>
        <p:spPr>
          <a:xfrm>
            <a:off x="777240" y="2532888"/>
            <a:ext cx="1060704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660904"/>
            <a:ext cx="570585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The product itself</a:t>
            </a:r>
          </a:p>
        </p:txBody>
      </p:sp>
      <p:sp>
        <p:nvSpPr>
          <p:cNvPr id="12" name="TextBox 11"/>
          <p:cNvSpPr txBox="1"/>
          <p:nvPr/>
        </p:nvSpPr>
        <p:spPr>
          <a:xfrm>
            <a:off x="6629400" y="2660904"/>
            <a:ext cx="460857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0 hops — mishandling a perfectly valid response</a:t>
            </a:r>
          </a:p>
        </p:txBody>
      </p:sp>
      <p:sp>
        <p:nvSpPr>
          <p:cNvPr id="13" name="Rectangle 12"/>
          <p:cNvSpPr/>
          <p:nvPr/>
        </p:nvSpPr>
        <p:spPr>
          <a:xfrm>
            <a:off x="667512" y="2999232"/>
            <a:ext cx="10826496" cy="38404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3063240"/>
            <a:ext cx="570585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The calculation capability</a:t>
            </a:r>
          </a:p>
        </p:txBody>
      </p:sp>
      <p:sp>
        <p:nvSpPr>
          <p:cNvPr id="15" name="TextBox 14"/>
          <p:cNvSpPr txBox="1"/>
          <p:nvPr/>
        </p:nvSpPr>
        <p:spPr>
          <a:xfrm>
            <a:off x="6629400" y="3063240"/>
            <a:ext cx="460857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1 hop down</a:t>
            </a:r>
          </a:p>
        </p:txBody>
      </p:sp>
      <p:sp>
        <p:nvSpPr>
          <p:cNvPr id="16" name="TextBox 15"/>
          <p:cNvSpPr txBox="1"/>
          <p:nvPr/>
        </p:nvSpPr>
        <p:spPr>
          <a:xfrm>
            <a:off x="777240" y="3465576"/>
            <a:ext cx="570585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The emission-factors capability</a:t>
            </a:r>
          </a:p>
        </p:txBody>
      </p:sp>
      <p:sp>
        <p:nvSpPr>
          <p:cNvPr id="17" name="TextBox 16"/>
          <p:cNvSpPr txBox="1"/>
          <p:nvPr/>
        </p:nvSpPr>
        <p:spPr>
          <a:xfrm>
            <a:off x="6629400" y="3465576"/>
            <a:ext cx="460857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2 hops down</a:t>
            </a:r>
          </a:p>
        </p:txBody>
      </p:sp>
      <p:sp>
        <p:nvSpPr>
          <p:cNvPr id="18" name="Rectangle 17"/>
          <p:cNvSpPr/>
          <p:nvPr/>
        </p:nvSpPr>
        <p:spPr>
          <a:xfrm>
            <a:off x="667512" y="3803904"/>
            <a:ext cx="10826496" cy="38404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3867912"/>
            <a:ext cx="570585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None of them</a:t>
            </a:r>
          </a:p>
        </p:txBody>
      </p:sp>
      <p:sp>
        <p:nvSpPr>
          <p:cNvPr id="20" name="TextBox 19"/>
          <p:cNvSpPr txBox="1"/>
          <p:nvPr/>
        </p:nvSpPr>
        <p:spPr>
          <a:xfrm>
            <a:off x="6629400" y="3867912"/>
            <a:ext cx="460857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A bad deploy, or a schema that drifted</a:t>
            </a:r>
          </a:p>
        </p:txBody>
      </p:sp>
      <p:sp>
        <p:nvSpPr>
          <p:cNvPr id="21" name="TextBox 20"/>
          <p:cNvSpPr txBox="1"/>
          <p:nvPr/>
        </p:nvSpPr>
        <p:spPr>
          <a:xfrm>
            <a:off x="777240" y="4544568"/>
            <a:ext cx="10637215" cy="320040"/>
          </a:xfrm>
          <a:prstGeom prst="rect">
            <a:avLst/>
          </a:prstGeom>
          <a:noFill/>
        </p:spPr>
        <p:txBody>
          <a:bodyPr wrap="square" lIns="0" tIns="0" rIns="0" bIns="0" anchor="t">
            <a:spAutoFit/>
          </a:bodyPr>
          <a:lstStyle/>
          <a:p>
            <a:pPr algn="l">
              <a:lnSpc>
                <a:spcPct val="128000"/>
              </a:lnSpc>
              <a:spcAft>
                <a:spcPts val="0"/>
              </a:spcAft>
            </a:pPr>
            <a:r>
              <a:rPr sz="1700" b="1" i="0">
                <a:solidFill>
                  <a:srgbClr val="0F172A"/>
                </a:solidFill>
                <a:latin typeface="Helvetica Neue"/>
              </a:rPr>
              <a:t>Three teams. Three repositories. One error message that names none of them.</a:t>
            </a:r>
          </a:p>
        </p:txBody>
      </p:sp>
      <p:sp>
        <p:nvSpPr>
          <p:cNvPr id="22" name="Rectangle 21"/>
          <p:cNvSpPr/>
          <p:nvPr/>
        </p:nvSpPr>
        <p:spPr>
          <a:xfrm>
            <a:off x="777240" y="5047488"/>
            <a:ext cx="10637215" cy="566928"/>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77240" y="5047488"/>
            <a:ext cx="41148" cy="566928"/>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33271" y="5047488"/>
            <a:ext cx="10180015" cy="566928"/>
          </a:xfrm>
          <a:prstGeom prst="rect">
            <a:avLst/>
          </a:prstGeom>
          <a:noFill/>
        </p:spPr>
        <p:txBody>
          <a:bodyPr wrap="square" lIns="0" tIns="0" rIns="0" bIns="0" anchor="ctr">
            <a:spAutoFit/>
          </a:bodyPr>
          <a:lstStyle/>
          <a:p>
            <a:pPr algn="l">
              <a:lnSpc>
                <a:spcPct val="124000"/>
              </a:lnSpc>
              <a:spcAft>
                <a:spcPts val="0"/>
              </a:spcAft>
            </a:pPr>
            <a:r>
              <a:rPr sz="1450" b="0" i="0">
                <a:solidFill>
                  <a:srgbClr val="0F172A"/>
                </a:solidFill>
                <a:latin typeface="Helvetica Neue"/>
              </a:rPr>
              <a:t>The naive move — blame whatever you called — is wrong about as often as it is right.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77240" y="420624"/>
            <a:ext cx="10637215" cy="219456"/>
          </a:xfrm>
          <a:prstGeom prst="rect">
            <a:avLst/>
          </a:prstGeom>
          <a:noFill/>
        </p:spPr>
        <p:txBody>
          <a:bodyPr wrap="square" lIns="0" tIns="0" rIns="0" bIns="0" anchor="t">
            <a:spAutoFit/>
          </a:bodyPr>
          <a:lstStyle/>
          <a:p>
            <a:pPr algn="l">
              <a:lnSpc>
                <a:spcPct val="128000"/>
              </a:lnSpc>
              <a:spcAft>
                <a:spcPts val="0"/>
              </a:spcAft>
            </a:pPr>
            <a:r>
              <a:rPr sz="950" b="1" i="0" spc="160">
                <a:solidFill>
                  <a:srgbClr val="2F81F7"/>
                </a:solidFill>
                <a:latin typeface="Helvetica Neue"/>
              </a:rPr>
              <a:t>THE APPROACH</a:t>
            </a:r>
          </a:p>
        </p:txBody>
      </p:sp>
      <p:sp>
        <p:nvSpPr>
          <p:cNvPr id="3" name="TextBox 2"/>
          <p:cNvSpPr txBox="1"/>
          <p:nvPr/>
        </p:nvSpPr>
        <p:spPr>
          <a:xfrm>
            <a:off x="777240" y="658368"/>
            <a:ext cx="10637215" cy="566928"/>
          </a:xfrm>
          <a:prstGeom prst="rect">
            <a:avLst/>
          </a:prstGeom>
          <a:noFill/>
        </p:spPr>
        <p:txBody>
          <a:bodyPr wrap="square" lIns="0" tIns="0" rIns="0" bIns="0" anchor="t">
            <a:spAutoFit/>
          </a:bodyPr>
          <a:lstStyle/>
          <a:p>
            <a:pPr algn="l">
              <a:lnSpc>
                <a:spcPct val="106000"/>
              </a:lnSpc>
              <a:spcAft>
                <a:spcPts val="0"/>
              </a:spcAft>
            </a:pPr>
            <a:r>
              <a:rPr sz="2900" b="1" i="0">
                <a:solidFill>
                  <a:srgbClr val="0F172A"/>
                </a:solidFill>
                <a:latin typeface="Helvetica Neue"/>
              </a:rPr>
              <a:t>Attribution is deterministic</a:t>
            </a:r>
          </a:p>
        </p:txBody>
      </p:sp>
      <p:sp>
        <p:nvSpPr>
          <p:cNvPr id="4" name="Rectangle 3"/>
          <p:cNvSpPr/>
          <p:nvPr/>
        </p:nvSpPr>
        <p:spPr>
          <a:xfrm>
            <a:off x="777240" y="1316736"/>
            <a:ext cx="1051560" cy="25400"/>
          </a:xfrm>
          <a:prstGeom prst="rect">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6382512"/>
            <a:ext cx="5486400" cy="201168"/>
          </a:xfrm>
          <a:prstGeom prst="rect">
            <a:avLst/>
          </a:prstGeom>
          <a:noFill/>
        </p:spPr>
        <p:txBody>
          <a:bodyPr wrap="square" lIns="0" tIns="0" rIns="0" bIns="0" anchor="t">
            <a:spAutoFit/>
          </a:bodyPr>
          <a:lstStyle/>
          <a:p>
            <a:pPr algn="l">
              <a:lnSpc>
                <a:spcPct val="128000"/>
              </a:lnSpc>
              <a:spcAft>
                <a:spcPts val="0"/>
              </a:spcAft>
            </a:pPr>
            <a:r>
              <a:rPr sz="850" b="0" i="0">
                <a:solidFill>
                  <a:srgbClr val="94A3B8"/>
                </a:solidFill>
                <a:latin typeface="Helvetica Neue"/>
              </a:rPr>
              <a:t>ASHS · Agentic Self-Healing System</a:t>
            </a:r>
          </a:p>
        </p:txBody>
      </p:sp>
      <p:sp>
        <p:nvSpPr>
          <p:cNvPr id="6" name="TextBox 5"/>
          <p:cNvSpPr txBox="1"/>
          <p:nvPr/>
        </p:nvSpPr>
        <p:spPr>
          <a:xfrm>
            <a:off x="10500055" y="6382512"/>
            <a:ext cx="914400" cy="201168"/>
          </a:xfrm>
          <a:prstGeom prst="rect">
            <a:avLst/>
          </a:prstGeom>
          <a:noFill/>
        </p:spPr>
        <p:txBody>
          <a:bodyPr wrap="square" lIns="0" tIns="0" rIns="0" bIns="0" anchor="t">
            <a:spAutoFit/>
          </a:bodyPr>
          <a:lstStyle/>
          <a:p>
            <a:pPr algn="r">
              <a:lnSpc>
                <a:spcPct val="128000"/>
              </a:lnSpc>
              <a:spcAft>
                <a:spcPts val="0"/>
              </a:spcAft>
            </a:pPr>
            <a:r>
              <a:rPr sz="850" b="0" i="0">
                <a:solidFill>
                  <a:srgbClr val="94A3B8"/>
                </a:solidFill>
                <a:latin typeface="Helvetica Neue"/>
              </a:rPr>
              <a:t>3</a:t>
            </a:r>
          </a:p>
        </p:txBody>
      </p:sp>
      <p:sp>
        <p:nvSpPr>
          <p:cNvPr id="7" name="Rectangle 6"/>
          <p:cNvSpPr/>
          <p:nvPr/>
        </p:nvSpPr>
        <p:spPr>
          <a:xfrm>
            <a:off x="777240" y="1645920"/>
            <a:ext cx="10637215" cy="640080"/>
          </a:xfrm>
          <a:prstGeom prst="rect">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1645920"/>
            <a:ext cx="41148" cy="64008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33271" y="1645920"/>
            <a:ext cx="10180015" cy="640080"/>
          </a:xfrm>
          <a:prstGeom prst="rect">
            <a:avLst/>
          </a:prstGeom>
          <a:noFill/>
        </p:spPr>
        <p:txBody>
          <a:bodyPr wrap="square" lIns="0" tIns="0" rIns="0" bIns="0" anchor="ctr">
            <a:spAutoFit/>
          </a:bodyPr>
          <a:lstStyle/>
          <a:p>
            <a:pPr algn="l">
              <a:lnSpc>
                <a:spcPct val="124000"/>
              </a:lnSpc>
              <a:spcAft>
                <a:spcPts val="0"/>
              </a:spcAft>
            </a:pPr>
            <a:r>
              <a:rPr sz="1700" b="1" i="0">
                <a:solidFill>
                  <a:srgbClr val="0F172A"/>
                </a:solidFill>
                <a:latin typeface="Helvetica Neue"/>
              </a:rPr>
              <a:t>Only the narrative and the patch come from a model. Nothing else does.</a:t>
            </a:r>
          </a:p>
        </p:txBody>
      </p:sp>
      <p:sp>
        <p:nvSpPr>
          <p:cNvPr id="10" name="TextBox 9"/>
          <p:cNvSpPr txBox="1"/>
          <p:nvPr/>
        </p:nvSpPr>
        <p:spPr>
          <a:xfrm>
            <a:off x="777240" y="2697480"/>
            <a:ext cx="5303520"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Decided in code</a:t>
            </a:r>
          </a:p>
        </p:txBody>
      </p:sp>
      <p:sp>
        <p:nvSpPr>
          <p:cNvPr id="11" name="TextBox 10"/>
          <p:cNvSpPr txBox="1"/>
          <p:nvPr/>
        </p:nvSpPr>
        <p:spPr>
          <a:xfrm>
            <a:off x="6080759" y="2697480"/>
            <a:ext cx="5303520"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Decided by the model</a:t>
            </a:r>
          </a:p>
        </p:txBody>
      </p:sp>
      <p:sp>
        <p:nvSpPr>
          <p:cNvPr id="12" name="Rectangle 11"/>
          <p:cNvSpPr/>
          <p:nvPr/>
        </p:nvSpPr>
        <p:spPr>
          <a:xfrm>
            <a:off x="777240" y="2990088"/>
            <a:ext cx="1060704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3118104"/>
            <a:ext cx="515721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Who owns the bug</a:t>
            </a:r>
          </a:p>
        </p:txBody>
      </p:sp>
      <p:sp>
        <p:nvSpPr>
          <p:cNvPr id="14" name="TextBox 13"/>
          <p:cNvSpPr txBox="1"/>
          <p:nvPr/>
        </p:nvSpPr>
        <p:spPr>
          <a:xfrm>
            <a:off x="6080759" y="3118104"/>
            <a:ext cx="515721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Why it happened, in prose</a:t>
            </a:r>
          </a:p>
        </p:txBody>
      </p:sp>
      <p:sp>
        <p:nvSpPr>
          <p:cNvPr id="15" name="Rectangle 14"/>
          <p:cNvSpPr/>
          <p:nvPr/>
        </p:nvSpPr>
        <p:spPr>
          <a:xfrm>
            <a:off x="667512" y="3456432"/>
            <a:ext cx="10826496" cy="38404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3520440"/>
            <a:ext cx="515721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Which agent may repair it</a:t>
            </a:r>
          </a:p>
        </p:txBody>
      </p:sp>
      <p:sp>
        <p:nvSpPr>
          <p:cNvPr id="17" name="TextBox 16"/>
          <p:cNvSpPr txBox="1"/>
          <p:nvPr/>
        </p:nvSpPr>
        <p:spPr>
          <a:xfrm>
            <a:off x="6080759" y="3520440"/>
            <a:ext cx="515721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What the fix should be</a:t>
            </a:r>
          </a:p>
        </p:txBody>
      </p:sp>
      <p:sp>
        <p:nvSpPr>
          <p:cNvPr id="18" name="TextBox 17"/>
          <p:cNvSpPr txBox="1"/>
          <p:nvPr/>
        </p:nvSpPr>
        <p:spPr>
          <a:xfrm>
            <a:off x="777240" y="3922776"/>
            <a:ext cx="515721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Whether it may run at all</a:t>
            </a:r>
          </a:p>
        </p:txBody>
      </p:sp>
      <p:sp>
        <p:nvSpPr>
          <p:cNvPr id="19" name="TextBox 18"/>
          <p:cNvSpPr txBox="1"/>
          <p:nvPr/>
        </p:nvSpPr>
        <p:spPr>
          <a:xfrm>
            <a:off x="6080759" y="3922776"/>
            <a:ext cx="5157216" cy="256032"/>
          </a:xfrm>
          <a:prstGeom prst="rect">
            <a:avLst/>
          </a:prstGeom>
          <a:noFill/>
        </p:spPr>
        <p:txBody>
          <a:bodyPr wrap="square" lIns="0" tIns="0" rIns="0" bIns="0" anchor="t">
            <a:spAutoFit/>
          </a:bodyPr>
          <a:lstStyle/>
          <a:p>
            <a:pPr algn="l">
              <a:lnSpc>
                <a:spcPct val="118000"/>
              </a:lnSpc>
              <a:spcAft>
                <a:spcPts val="0"/>
              </a:spcAft>
            </a:pPr>
            <a:r>
              <a:rPr sz="1300" b="0" i="0">
                <a:solidFill>
                  <a:srgbClr val="94A3B8"/>
                </a:solidFill>
                <a:latin typeface="Helvetica Neue"/>
              </a:rPr>
              <a:t>Nothing else</a:t>
            </a:r>
          </a:p>
        </p:txBody>
      </p:sp>
      <p:sp>
        <p:nvSpPr>
          <p:cNvPr id="20" name="TextBox 19"/>
          <p:cNvSpPr txBox="1"/>
          <p:nvPr/>
        </p:nvSpPr>
        <p:spPr>
          <a:xfrm>
            <a:off x="777240" y="4690872"/>
            <a:ext cx="10637215" cy="548640"/>
          </a:xfrm>
          <a:prstGeom prst="rect">
            <a:avLst/>
          </a:prstGeom>
          <a:noFill/>
        </p:spPr>
        <p:txBody>
          <a:bodyPr wrap="square" lIns="0" tIns="0" rIns="0" bIns="0" anchor="t">
            <a:spAutoFit/>
          </a:bodyPr>
          <a:lstStyle/>
          <a:p>
            <a:pPr algn="l">
              <a:lnSpc>
                <a:spcPct val="128000"/>
              </a:lnSpc>
              <a:spcAft>
                <a:spcPts val="0"/>
              </a:spcAft>
            </a:pPr>
            <a:r>
              <a:rPr sz="1550" b="0" i="0">
                <a:solidFill>
                  <a:srgbClr val="334155"/>
                </a:solidFill>
                <a:latin typeface="Helvetica Neue"/>
              </a:rPr>
              <a:t>The exit tests assert that no model call appears at or before the attribution decision. If one did, the build fails.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77240" y="420624"/>
            <a:ext cx="10637215" cy="219456"/>
          </a:xfrm>
          <a:prstGeom prst="rect">
            <a:avLst/>
          </a:prstGeom>
          <a:noFill/>
        </p:spPr>
        <p:txBody>
          <a:bodyPr wrap="square" lIns="0" tIns="0" rIns="0" bIns="0" anchor="t">
            <a:spAutoFit/>
          </a:bodyPr>
          <a:lstStyle/>
          <a:p>
            <a:pPr algn="l">
              <a:lnSpc>
                <a:spcPct val="128000"/>
              </a:lnSpc>
              <a:spcAft>
                <a:spcPts val="0"/>
              </a:spcAft>
            </a:pPr>
            <a:r>
              <a:rPr sz="950" b="1" i="0" spc="160">
                <a:solidFill>
                  <a:srgbClr val="2F81F7"/>
                </a:solidFill>
                <a:latin typeface="Helvetica Neue"/>
              </a:rPr>
              <a:t>HOW IT FITS TOGETHER</a:t>
            </a:r>
          </a:p>
        </p:txBody>
      </p:sp>
      <p:sp>
        <p:nvSpPr>
          <p:cNvPr id="3" name="TextBox 2"/>
          <p:cNvSpPr txBox="1"/>
          <p:nvPr/>
        </p:nvSpPr>
        <p:spPr>
          <a:xfrm>
            <a:off x="777240" y="658368"/>
            <a:ext cx="10637215" cy="566928"/>
          </a:xfrm>
          <a:prstGeom prst="rect">
            <a:avLst/>
          </a:prstGeom>
          <a:noFill/>
        </p:spPr>
        <p:txBody>
          <a:bodyPr wrap="square" lIns="0" tIns="0" rIns="0" bIns="0" anchor="t">
            <a:spAutoFit/>
          </a:bodyPr>
          <a:lstStyle/>
          <a:p>
            <a:pPr algn="l">
              <a:lnSpc>
                <a:spcPct val="106000"/>
              </a:lnSpc>
              <a:spcAft>
                <a:spcPts val="0"/>
              </a:spcAft>
            </a:pPr>
            <a:r>
              <a:rPr sz="2900" b="1" i="0">
                <a:solidFill>
                  <a:srgbClr val="0F172A"/>
                </a:solidFill>
                <a:latin typeface="Helvetica Neue"/>
              </a:rPr>
              <a:t>Architecture</a:t>
            </a:r>
          </a:p>
        </p:txBody>
      </p:sp>
      <p:sp>
        <p:nvSpPr>
          <p:cNvPr id="4" name="Rectangle 3"/>
          <p:cNvSpPr/>
          <p:nvPr/>
        </p:nvSpPr>
        <p:spPr>
          <a:xfrm>
            <a:off x="777240" y="1316736"/>
            <a:ext cx="1051560" cy="25400"/>
          </a:xfrm>
          <a:prstGeom prst="rect">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6382512"/>
            <a:ext cx="5486400" cy="201168"/>
          </a:xfrm>
          <a:prstGeom prst="rect">
            <a:avLst/>
          </a:prstGeom>
          <a:noFill/>
        </p:spPr>
        <p:txBody>
          <a:bodyPr wrap="square" lIns="0" tIns="0" rIns="0" bIns="0" anchor="t">
            <a:spAutoFit/>
          </a:bodyPr>
          <a:lstStyle/>
          <a:p>
            <a:pPr algn="l">
              <a:lnSpc>
                <a:spcPct val="128000"/>
              </a:lnSpc>
              <a:spcAft>
                <a:spcPts val="0"/>
              </a:spcAft>
            </a:pPr>
            <a:r>
              <a:rPr sz="850" b="0" i="0">
                <a:solidFill>
                  <a:srgbClr val="94A3B8"/>
                </a:solidFill>
                <a:latin typeface="Helvetica Neue"/>
              </a:rPr>
              <a:t>ASHS · Agentic Self-Healing System</a:t>
            </a:r>
          </a:p>
        </p:txBody>
      </p:sp>
      <p:sp>
        <p:nvSpPr>
          <p:cNvPr id="6" name="TextBox 5"/>
          <p:cNvSpPr txBox="1"/>
          <p:nvPr/>
        </p:nvSpPr>
        <p:spPr>
          <a:xfrm>
            <a:off x="10500055" y="6382512"/>
            <a:ext cx="914400" cy="201168"/>
          </a:xfrm>
          <a:prstGeom prst="rect">
            <a:avLst/>
          </a:prstGeom>
          <a:noFill/>
        </p:spPr>
        <p:txBody>
          <a:bodyPr wrap="square" lIns="0" tIns="0" rIns="0" bIns="0" anchor="t">
            <a:spAutoFit/>
          </a:bodyPr>
          <a:lstStyle/>
          <a:p>
            <a:pPr algn="r">
              <a:lnSpc>
                <a:spcPct val="128000"/>
              </a:lnSpc>
              <a:spcAft>
                <a:spcPts val="0"/>
              </a:spcAft>
            </a:pPr>
            <a:r>
              <a:rPr sz="850" b="0" i="0">
                <a:solidFill>
                  <a:srgbClr val="94A3B8"/>
                </a:solidFill>
                <a:latin typeface="Helvetica Neue"/>
              </a:rPr>
              <a:t>4</a:t>
            </a:r>
          </a:p>
        </p:txBody>
      </p:sp>
      <p:pic>
        <p:nvPicPr>
          <p:cNvPr id="7" name="Picture 6" descr="arch_hi.png"/>
          <p:cNvPicPr>
            <a:picLocks noChangeAspect="1"/>
          </p:cNvPicPr>
          <p:nvPr/>
        </p:nvPicPr>
        <p:blipFill>
          <a:blip r:embed="rId3"/>
          <a:stretch>
            <a:fillRect/>
          </a:stretch>
        </p:blipFill>
        <p:spPr>
          <a:xfrm>
            <a:off x="2145471" y="1463040"/>
            <a:ext cx="7907153" cy="48463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77240" y="420624"/>
            <a:ext cx="10637215" cy="219456"/>
          </a:xfrm>
          <a:prstGeom prst="rect">
            <a:avLst/>
          </a:prstGeom>
          <a:noFill/>
        </p:spPr>
        <p:txBody>
          <a:bodyPr wrap="square" lIns="0" tIns="0" rIns="0" bIns="0" anchor="t">
            <a:spAutoFit/>
          </a:bodyPr>
          <a:lstStyle/>
          <a:p>
            <a:pPr algn="l">
              <a:lnSpc>
                <a:spcPct val="128000"/>
              </a:lnSpc>
              <a:spcAft>
                <a:spcPts val="0"/>
              </a:spcAft>
            </a:pPr>
            <a:r>
              <a:rPr sz="950" b="1" i="0" spc="160">
                <a:solidFill>
                  <a:srgbClr val="2F81F7"/>
                </a:solidFill>
                <a:latin typeface="Helvetica Neue"/>
              </a:rPr>
              <a:t>HOW IT DECIDES</a:t>
            </a:r>
          </a:p>
        </p:txBody>
      </p:sp>
      <p:sp>
        <p:nvSpPr>
          <p:cNvPr id="3" name="TextBox 2"/>
          <p:cNvSpPr txBox="1"/>
          <p:nvPr/>
        </p:nvSpPr>
        <p:spPr>
          <a:xfrm>
            <a:off x="777240" y="658368"/>
            <a:ext cx="10637215" cy="566928"/>
          </a:xfrm>
          <a:prstGeom prst="rect">
            <a:avLst/>
          </a:prstGeom>
          <a:noFill/>
        </p:spPr>
        <p:txBody>
          <a:bodyPr wrap="square" lIns="0" tIns="0" rIns="0" bIns="0" anchor="t">
            <a:spAutoFit/>
          </a:bodyPr>
          <a:lstStyle/>
          <a:p>
            <a:pPr algn="l">
              <a:lnSpc>
                <a:spcPct val="106000"/>
              </a:lnSpc>
              <a:spcAft>
                <a:spcPts val="0"/>
              </a:spcAft>
            </a:pPr>
            <a:r>
              <a:rPr sz="2900" b="1" i="0">
                <a:solidFill>
                  <a:srgbClr val="0F172A"/>
                </a:solidFill>
                <a:latin typeface="Helvetica Neue"/>
              </a:rPr>
              <a:t>Five signals, combined</a:t>
            </a:r>
          </a:p>
        </p:txBody>
      </p:sp>
      <p:sp>
        <p:nvSpPr>
          <p:cNvPr id="4" name="Rectangle 3"/>
          <p:cNvSpPr/>
          <p:nvPr/>
        </p:nvSpPr>
        <p:spPr>
          <a:xfrm>
            <a:off x="777240" y="1316736"/>
            <a:ext cx="1051560" cy="25400"/>
          </a:xfrm>
          <a:prstGeom prst="rect">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6382512"/>
            <a:ext cx="5486400" cy="201168"/>
          </a:xfrm>
          <a:prstGeom prst="rect">
            <a:avLst/>
          </a:prstGeom>
          <a:noFill/>
        </p:spPr>
        <p:txBody>
          <a:bodyPr wrap="square" lIns="0" tIns="0" rIns="0" bIns="0" anchor="t">
            <a:spAutoFit/>
          </a:bodyPr>
          <a:lstStyle/>
          <a:p>
            <a:pPr algn="l">
              <a:lnSpc>
                <a:spcPct val="128000"/>
              </a:lnSpc>
              <a:spcAft>
                <a:spcPts val="0"/>
              </a:spcAft>
            </a:pPr>
            <a:r>
              <a:rPr sz="850" b="0" i="0">
                <a:solidFill>
                  <a:srgbClr val="94A3B8"/>
                </a:solidFill>
                <a:latin typeface="Helvetica Neue"/>
              </a:rPr>
              <a:t>ASHS · Agentic Self-Healing System</a:t>
            </a:r>
          </a:p>
        </p:txBody>
      </p:sp>
      <p:sp>
        <p:nvSpPr>
          <p:cNvPr id="6" name="TextBox 5"/>
          <p:cNvSpPr txBox="1"/>
          <p:nvPr/>
        </p:nvSpPr>
        <p:spPr>
          <a:xfrm>
            <a:off x="10500055" y="6382512"/>
            <a:ext cx="914400" cy="201168"/>
          </a:xfrm>
          <a:prstGeom prst="rect">
            <a:avLst/>
          </a:prstGeom>
          <a:noFill/>
        </p:spPr>
        <p:txBody>
          <a:bodyPr wrap="square" lIns="0" tIns="0" rIns="0" bIns="0" anchor="t">
            <a:spAutoFit/>
          </a:bodyPr>
          <a:lstStyle/>
          <a:p>
            <a:pPr algn="r">
              <a:lnSpc>
                <a:spcPct val="128000"/>
              </a:lnSpc>
              <a:spcAft>
                <a:spcPts val="0"/>
              </a:spcAft>
            </a:pPr>
            <a:r>
              <a:rPr sz="850" b="0" i="0">
                <a:solidFill>
                  <a:srgbClr val="94A3B8"/>
                </a:solidFill>
                <a:latin typeface="Helvetica Neue"/>
              </a:rPr>
              <a:t>5</a:t>
            </a:r>
          </a:p>
        </p:txBody>
      </p:sp>
      <p:sp>
        <p:nvSpPr>
          <p:cNvPr id="7" name="TextBox 6"/>
          <p:cNvSpPr txBox="1"/>
          <p:nvPr/>
        </p:nvSpPr>
        <p:spPr>
          <a:xfrm>
            <a:off x="777240" y="1691640"/>
            <a:ext cx="3200400"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Signal</a:t>
            </a:r>
          </a:p>
        </p:txBody>
      </p:sp>
      <p:sp>
        <p:nvSpPr>
          <p:cNvPr id="8" name="TextBox 7"/>
          <p:cNvSpPr txBox="1"/>
          <p:nvPr/>
        </p:nvSpPr>
        <p:spPr>
          <a:xfrm>
            <a:off x="3977639" y="1691640"/>
            <a:ext cx="1097280"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Weight</a:t>
            </a:r>
          </a:p>
        </p:txBody>
      </p:sp>
      <p:sp>
        <p:nvSpPr>
          <p:cNvPr id="9" name="TextBox 8"/>
          <p:cNvSpPr txBox="1"/>
          <p:nvPr/>
        </p:nvSpPr>
        <p:spPr>
          <a:xfrm>
            <a:off x="5074920" y="1691640"/>
            <a:ext cx="6309360"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What it actually does</a:t>
            </a:r>
          </a:p>
        </p:txBody>
      </p:sp>
      <p:sp>
        <p:nvSpPr>
          <p:cNvPr id="10" name="Rectangle 9"/>
          <p:cNvSpPr/>
          <p:nvPr/>
        </p:nvSpPr>
        <p:spPr>
          <a:xfrm>
            <a:off x="777240" y="1984248"/>
            <a:ext cx="1060704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112264"/>
            <a:ext cx="3054096" cy="256032"/>
          </a:xfrm>
          <a:prstGeom prst="rect">
            <a:avLst/>
          </a:prstGeom>
          <a:noFill/>
        </p:spPr>
        <p:txBody>
          <a:bodyPr wrap="square" lIns="0" tIns="0" rIns="0" bIns="0" anchor="t">
            <a:spAutoFit/>
          </a:bodyPr>
          <a:lstStyle/>
          <a:p>
            <a:pPr algn="l">
              <a:lnSpc>
                <a:spcPct val="118000"/>
              </a:lnSpc>
              <a:spcAft>
                <a:spcPts val="0"/>
              </a:spcAft>
            </a:pPr>
            <a:r>
              <a:rPr sz="1300" b="1" i="0">
                <a:solidFill>
                  <a:srgbClr val="0F172A"/>
                </a:solidFill>
                <a:latin typeface="Helvetica Neue"/>
              </a:rPr>
              <a:t>Contract validation</a:t>
            </a:r>
          </a:p>
        </p:txBody>
      </p:sp>
      <p:sp>
        <p:nvSpPr>
          <p:cNvPr id="12" name="TextBox 11"/>
          <p:cNvSpPr txBox="1"/>
          <p:nvPr/>
        </p:nvSpPr>
        <p:spPr>
          <a:xfrm>
            <a:off x="3977639" y="2112264"/>
            <a:ext cx="950976" cy="256032"/>
          </a:xfrm>
          <a:prstGeom prst="rect">
            <a:avLst/>
          </a:prstGeom>
          <a:noFill/>
        </p:spPr>
        <p:txBody>
          <a:bodyPr wrap="square" lIns="0" tIns="0" rIns="0" bIns="0" anchor="t">
            <a:spAutoFit/>
          </a:bodyPr>
          <a:lstStyle/>
          <a:p>
            <a:pPr algn="l">
              <a:lnSpc>
                <a:spcPct val="118000"/>
              </a:lnSpc>
              <a:spcAft>
                <a:spcPts val="0"/>
              </a:spcAft>
            </a:pPr>
            <a:r>
              <a:rPr sz="1300" b="1" i="0">
                <a:solidFill>
                  <a:srgbClr val="15803D"/>
                </a:solidFill>
                <a:latin typeface="Helvetica Neue"/>
              </a:rPr>
              <a:t>0.88</a:t>
            </a:r>
          </a:p>
        </p:txBody>
      </p:sp>
      <p:sp>
        <p:nvSpPr>
          <p:cNvPr id="13" name="TextBox 12"/>
          <p:cNvSpPr txBox="1"/>
          <p:nvPr/>
        </p:nvSpPr>
        <p:spPr>
          <a:xfrm>
            <a:off x="5074920" y="2112264"/>
            <a:ext cx="616305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The payload a capability returned, against the schema it published</a:t>
            </a:r>
          </a:p>
        </p:txBody>
      </p:sp>
      <p:sp>
        <p:nvSpPr>
          <p:cNvPr id="14" name="Rectangle 13"/>
          <p:cNvSpPr/>
          <p:nvPr/>
        </p:nvSpPr>
        <p:spPr>
          <a:xfrm>
            <a:off x="667512" y="2505456"/>
            <a:ext cx="10826496" cy="438912"/>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2569464"/>
            <a:ext cx="305409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Trace walk</a:t>
            </a:r>
          </a:p>
        </p:txBody>
      </p:sp>
      <p:sp>
        <p:nvSpPr>
          <p:cNvPr id="16" name="TextBox 15"/>
          <p:cNvSpPr txBox="1"/>
          <p:nvPr/>
        </p:nvSpPr>
        <p:spPr>
          <a:xfrm>
            <a:off x="3977639" y="2569464"/>
            <a:ext cx="95097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0.40</a:t>
            </a:r>
          </a:p>
        </p:txBody>
      </p:sp>
      <p:sp>
        <p:nvSpPr>
          <p:cNvPr id="17" name="TextBox 16"/>
          <p:cNvSpPr txBox="1"/>
          <p:nvPr/>
        </p:nvSpPr>
        <p:spPr>
          <a:xfrm>
            <a:off x="5074920" y="2569464"/>
            <a:ext cx="616305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Deepest error span that carries an exception</a:t>
            </a:r>
          </a:p>
        </p:txBody>
      </p:sp>
      <p:sp>
        <p:nvSpPr>
          <p:cNvPr id="18" name="TextBox 17"/>
          <p:cNvSpPr txBox="1"/>
          <p:nvPr/>
        </p:nvSpPr>
        <p:spPr>
          <a:xfrm>
            <a:off x="777240" y="3026664"/>
            <a:ext cx="305409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Deploy correlation</a:t>
            </a:r>
          </a:p>
        </p:txBody>
      </p:sp>
      <p:sp>
        <p:nvSpPr>
          <p:cNvPr id="19" name="TextBox 18"/>
          <p:cNvSpPr txBox="1"/>
          <p:nvPr/>
        </p:nvSpPr>
        <p:spPr>
          <a:xfrm>
            <a:off x="3977639" y="3026664"/>
            <a:ext cx="95097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0.25</a:t>
            </a:r>
          </a:p>
        </p:txBody>
      </p:sp>
      <p:sp>
        <p:nvSpPr>
          <p:cNvPr id="20" name="TextBox 19"/>
          <p:cNvSpPr txBox="1"/>
          <p:nvPr/>
        </p:nvSpPr>
        <p:spPr>
          <a:xfrm>
            <a:off x="5074920" y="3026664"/>
            <a:ext cx="616305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What shipped just before the first occurrence</a:t>
            </a:r>
          </a:p>
        </p:txBody>
      </p:sp>
      <p:sp>
        <p:nvSpPr>
          <p:cNvPr id="21" name="Rectangle 20"/>
          <p:cNvSpPr/>
          <p:nvPr/>
        </p:nvSpPr>
        <p:spPr>
          <a:xfrm>
            <a:off x="667512" y="3419856"/>
            <a:ext cx="10826496" cy="438912"/>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 y="3483864"/>
            <a:ext cx="305409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Blast radius</a:t>
            </a:r>
          </a:p>
        </p:txBody>
      </p:sp>
      <p:sp>
        <p:nvSpPr>
          <p:cNvPr id="23" name="TextBox 22"/>
          <p:cNvSpPr txBox="1"/>
          <p:nvPr/>
        </p:nvSpPr>
        <p:spPr>
          <a:xfrm>
            <a:off x="3977639" y="3483864"/>
            <a:ext cx="95097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0.22</a:t>
            </a:r>
          </a:p>
        </p:txBody>
      </p:sp>
      <p:sp>
        <p:nvSpPr>
          <p:cNvPr id="24" name="TextBox 23"/>
          <p:cNvSpPr txBox="1"/>
          <p:nvPr/>
        </p:nvSpPr>
        <p:spPr>
          <a:xfrm>
            <a:off x="5074920" y="3483864"/>
            <a:ext cx="6163056" cy="512064"/>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One consumer failing, or all of them? Follows the chain to its root</a:t>
            </a:r>
          </a:p>
        </p:txBody>
      </p:sp>
      <p:sp>
        <p:nvSpPr>
          <p:cNvPr id="25" name="TextBox 24"/>
          <p:cNvSpPr txBox="1"/>
          <p:nvPr/>
        </p:nvSpPr>
        <p:spPr>
          <a:xfrm>
            <a:off x="777240" y="3941064"/>
            <a:ext cx="305409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Exoneration</a:t>
            </a:r>
          </a:p>
        </p:txBody>
      </p:sp>
      <p:sp>
        <p:nvSpPr>
          <p:cNvPr id="26" name="TextBox 25"/>
          <p:cNvSpPr txBox="1"/>
          <p:nvPr/>
        </p:nvSpPr>
        <p:spPr>
          <a:xfrm>
            <a:off x="3977639" y="3941064"/>
            <a:ext cx="95097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0.15</a:t>
            </a:r>
          </a:p>
        </p:txBody>
      </p:sp>
      <p:sp>
        <p:nvSpPr>
          <p:cNvPr id="27" name="TextBox 26"/>
          <p:cNvSpPr txBox="1"/>
          <p:nvPr/>
        </p:nvSpPr>
        <p:spPr>
          <a:xfrm>
            <a:off x="5074920" y="3941064"/>
            <a:ext cx="616305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Ruling a capability out is positive evidence too</a:t>
            </a:r>
          </a:p>
        </p:txBody>
      </p:sp>
      <p:sp>
        <p:nvSpPr>
          <p:cNvPr id="28" name="Rectangle 27"/>
          <p:cNvSpPr/>
          <p:nvPr/>
        </p:nvSpPr>
        <p:spPr>
          <a:xfrm>
            <a:off x="777240" y="4672584"/>
            <a:ext cx="10637215" cy="713232"/>
          </a:xfrm>
          <a:prstGeom prst="rect">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77240" y="4672584"/>
            <a:ext cx="41148" cy="713232"/>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33271" y="4672584"/>
            <a:ext cx="10180015" cy="713232"/>
          </a:xfrm>
          <a:prstGeom prst="rect">
            <a:avLst/>
          </a:prstGeom>
          <a:noFill/>
        </p:spPr>
        <p:txBody>
          <a:bodyPr wrap="square" lIns="0" tIns="0" rIns="0" bIns="0" anchor="ctr">
            <a:spAutoFit/>
          </a:bodyPr>
          <a:lstStyle/>
          <a:p>
            <a:pPr algn="l">
              <a:lnSpc>
                <a:spcPct val="124000"/>
              </a:lnSpc>
              <a:spcAft>
                <a:spcPts val="0"/>
              </a:spcAft>
            </a:pPr>
            <a:r>
              <a:rPr sz="1450" b="0" i="0">
                <a:solidFill>
                  <a:srgbClr val="0F172A"/>
                </a:solidFill>
                <a:latin typeface="Helvetica Neue"/>
              </a:rPr>
              <a:t>Contract validation is the only signal that can clear the bar alone — because it is the only one that is objective. Their schema, their payload, no inference in between.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77240" y="420624"/>
            <a:ext cx="10637215" cy="219456"/>
          </a:xfrm>
          <a:prstGeom prst="rect">
            <a:avLst/>
          </a:prstGeom>
          <a:noFill/>
        </p:spPr>
        <p:txBody>
          <a:bodyPr wrap="square" lIns="0" tIns="0" rIns="0" bIns="0" anchor="t">
            <a:spAutoFit/>
          </a:bodyPr>
          <a:lstStyle/>
          <a:p>
            <a:pPr algn="l">
              <a:lnSpc>
                <a:spcPct val="128000"/>
              </a:lnSpc>
              <a:spcAft>
                <a:spcPts val="0"/>
              </a:spcAft>
            </a:pPr>
            <a:r>
              <a:rPr sz="950" b="1" i="0" spc="160">
                <a:solidFill>
                  <a:srgbClr val="2F81F7"/>
                </a:solidFill>
                <a:latin typeface="Helvetica Neue"/>
              </a:rPr>
              <a:t>HOW IT DECIDES</a:t>
            </a:r>
          </a:p>
        </p:txBody>
      </p:sp>
      <p:sp>
        <p:nvSpPr>
          <p:cNvPr id="3" name="TextBox 2"/>
          <p:cNvSpPr txBox="1"/>
          <p:nvPr/>
        </p:nvSpPr>
        <p:spPr>
          <a:xfrm>
            <a:off x="777240" y="658368"/>
            <a:ext cx="10637215" cy="566928"/>
          </a:xfrm>
          <a:prstGeom prst="rect">
            <a:avLst/>
          </a:prstGeom>
          <a:noFill/>
        </p:spPr>
        <p:txBody>
          <a:bodyPr wrap="square" lIns="0" tIns="0" rIns="0" bIns="0" anchor="t">
            <a:spAutoFit/>
          </a:bodyPr>
          <a:lstStyle/>
          <a:p>
            <a:pPr algn="l">
              <a:lnSpc>
                <a:spcPct val="106000"/>
              </a:lnSpc>
              <a:spcAft>
                <a:spcPts val="0"/>
              </a:spcAft>
            </a:pPr>
            <a:r>
              <a:rPr sz="2900" b="1" i="0">
                <a:solidFill>
                  <a:srgbClr val="0F172A"/>
                </a:solidFill>
                <a:latin typeface="Helvetica Neue"/>
              </a:rPr>
              <a:t>Confidence, never certainty</a:t>
            </a:r>
          </a:p>
        </p:txBody>
      </p:sp>
      <p:sp>
        <p:nvSpPr>
          <p:cNvPr id="4" name="Rectangle 3"/>
          <p:cNvSpPr/>
          <p:nvPr/>
        </p:nvSpPr>
        <p:spPr>
          <a:xfrm>
            <a:off x="777240" y="1316736"/>
            <a:ext cx="1051560" cy="25400"/>
          </a:xfrm>
          <a:prstGeom prst="rect">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6382512"/>
            <a:ext cx="5486400" cy="201168"/>
          </a:xfrm>
          <a:prstGeom prst="rect">
            <a:avLst/>
          </a:prstGeom>
          <a:noFill/>
        </p:spPr>
        <p:txBody>
          <a:bodyPr wrap="square" lIns="0" tIns="0" rIns="0" bIns="0" anchor="t">
            <a:spAutoFit/>
          </a:bodyPr>
          <a:lstStyle/>
          <a:p>
            <a:pPr algn="l">
              <a:lnSpc>
                <a:spcPct val="128000"/>
              </a:lnSpc>
              <a:spcAft>
                <a:spcPts val="0"/>
              </a:spcAft>
            </a:pPr>
            <a:r>
              <a:rPr sz="850" b="0" i="0">
                <a:solidFill>
                  <a:srgbClr val="94A3B8"/>
                </a:solidFill>
                <a:latin typeface="Helvetica Neue"/>
              </a:rPr>
              <a:t>ASHS · Agentic Self-Healing System</a:t>
            </a:r>
          </a:p>
        </p:txBody>
      </p:sp>
      <p:sp>
        <p:nvSpPr>
          <p:cNvPr id="6" name="TextBox 5"/>
          <p:cNvSpPr txBox="1"/>
          <p:nvPr/>
        </p:nvSpPr>
        <p:spPr>
          <a:xfrm>
            <a:off x="10500055" y="6382512"/>
            <a:ext cx="914400" cy="201168"/>
          </a:xfrm>
          <a:prstGeom prst="rect">
            <a:avLst/>
          </a:prstGeom>
          <a:noFill/>
        </p:spPr>
        <p:txBody>
          <a:bodyPr wrap="square" lIns="0" tIns="0" rIns="0" bIns="0" anchor="t">
            <a:spAutoFit/>
          </a:bodyPr>
          <a:lstStyle/>
          <a:p>
            <a:pPr algn="r">
              <a:lnSpc>
                <a:spcPct val="128000"/>
              </a:lnSpc>
              <a:spcAft>
                <a:spcPts val="0"/>
              </a:spcAft>
            </a:pPr>
            <a:r>
              <a:rPr sz="850" b="0" i="0">
                <a:solidFill>
                  <a:srgbClr val="94A3B8"/>
                </a:solidFill>
                <a:latin typeface="Helvetica Neue"/>
              </a:rPr>
              <a:t>6</a:t>
            </a:r>
          </a:p>
        </p:txBody>
      </p:sp>
      <p:sp>
        <p:nvSpPr>
          <p:cNvPr id="7" name="Rectangle 6"/>
          <p:cNvSpPr/>
          <p:nvPr/>
        </p:nvSpPr>
        <p:spPr>
          <a:xfrm>
            <a:off x="777240" y="1691640"/>
            <a:ext cx="3401568" cy="1371600"/>
          </a:xfrm>
          <a:prstGeom prst="rect">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1691640"/>
            <a:ext cx="3401568" cy="50292"/>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1965960"/>
            <a:ext cx="2834640" cy="320040"/>
          </a:xfrm>
          <a:prstGeom prst="rect">
            <a:avLst/>
          </a:prstGeom>
          <a:noFill/>
        </p:spPr>
        <p:txBody>
          <a:bodyPr wrap="square" lIns="0" tIns="0" rIns="0" bIns="0" anchor="t">
            <a:spAutoFit/>
          </a:bodyPr>
          <a:lstStyle/>
          <a:p>
            <a:pPr algn="l">
              <a:lnSpc>
                <a:spcPct val="128000"/>
              </a:lnSpc>
              <a:spcAft>
                <a:spcPts val="0"/>
              </a:spcAft>
            </a:pPr>
            <a:r>
              <a:rPr sz="1700" b="1" i="0">
                <a:solidFill>
                  <a:srgbClr val="15803D"/>
                </a:solidFill>
                <a:latin typeface="Helvetica Neue"/>
              </a:rPr>
              <a:t>0.85 and above</a:t>
            </a:r>
          </a:p>
        </p:txBody>
      </p:sp>
      <p:sp>
        <p:nvSpPr>
          <p:cNvPr id="10" name="TextBox 9"/>
          <p:cNvSpPr txBox="1"/>
          <p:nvPr/>
        </p:nvSpPr>
        <p:spPr>
          <a:xfrm>
            <a:off x="1051560" y="2395728"/>
            <a:ext cx="2880360" cy="548640"/>
          </a:xfrm>
          <a:prstGeom prst="rect">
            <a:avLst/>
          </a:prstGeom>
          <a:noFill/>
        </p:spPr>
        <p:txBody>
          <a:bodyPr wrap="square" lIns="0" tIns="0" rIns="0" bIns="0" anchor="t">
            <a:spAutoFit/>
          </a:bodyPr>
          <a:lstStyle/>
          <a:p>
            <a:pPr algn="l">
              <a:lnSpc>
                <a:spcPct val="128000"/>
              </a:lnSpc>
              <a:spcAft>
                <a:spcPts val="0"/>
              </a:spcAft>
            </a:pPr>
            <a:r>
              <a:rPr sz="1300" b="0" i="0">
                <a:solidFill>
                  <a:srgbClr val="334155"/>
                </a:solidFill>
                <a:latin typeface="Helvetica Neue"/>
              </a:rPr>
              <a:t>Act — at that service's own autonomy level</a:t>
            </a:r>
          </a:p>
        </p:txBody>
      </p:sp>
      <p:sp>
        <p:nvSpPr>
          <p:cNvPr id="11" name="Rectangle 10"/>
          <p:cNvSpPr/>
          <p:nvPr/>
        </p:nvSpPr>
        <p:spPr>
          <a:xfrm>
            <a:off x="4389120" y="1691640"/>
            <a:ext cx="3401568" cy="1371600"/>
          </a:xfrm>
          <a:prstGeom prst="rect">
            <a:avLst/>
          </a:prstGeom>
          <a:solidFill>
            <a:srgbClr val="FFF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0" y="1691640"/>
            <a:ext cx="3401568" cy="5029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63440" y="1965960"/>
            <a:ext cx="2834640" cy="320040"/>
          </a:xfrm>
          <a:prstGeom prst="rect">
            <a:avLst/>
          </a:prstGeom>
          <a:noFill/>
        </p:spPr>
        <p:txBody>
          <a:bodyPr wrap="square" lIns="0" tIns="0" rIns="0" bIns="0" anchor="t">
            <a:spAutoFit/>
          </a:bodyPr>
          <a:lstStyle/>
          <a:p>
            <a:pPr algn="l">
              <a:lnSpc>
                <a:spcPct val="128000"/>
              </a:lnSpc>
              <a:spcAft>
                <a:spcPts val="0"/>
              </a:spcAft>
            </a:pPr>
            <a:r>
              <a:rPr sz="1700" b="1" i="0">
                <a:solidFill>
                  <a:srgbClr val="B45309"/>
                </a:solidFill>
                <a:latin typeface="Helvetica Neue"/>
              </a:rPr>
              <a:t>0.60 to 0.85</a:t>
            </a:r>
          </a:p>
        </p:txBody>
      </p:sp>
      <p:sp>
        <p:nvSpPr>
          <p:cNvPr id="14" name="TextBox 13"/>
          <p:cNvSpPr txBox="1"/>
          <p:nvPr/>
        </p:nvSpPr>
        <p:spPr>
          <a:xfrm>
            <a:off x="4663440" y="2395728"/>
            <a:ext cx="2880360" cy="548640"/>
          </a:xfrm>
          <a:prstGeom prst="rect">
            <a:avLst/>
          </a:prstGeom>
          <a:noFill/>
        </p:spPr>
        <p:txBody>
          <a:bodyPr wrap="square" lIns="0" tIns="0" rIns="0" bIns="0" anchor="t">
            <a:spAutoFit/>
          </a:bodyPr>
          <a:lstStyle/>
          <a:p>
            <a:pPr algn="l">
              <a:lnSpc>
                <a:spcPct val="128000"/>
              </a:lnSpc>
              <a:spcAft>
                <a:spcPts val="0"/>
              </a:spcAft>
            </a:pPr>
            <a:r>
              <a:rPr sz="1300" b="0" i="0">
                <a:solidFill>
                  <a:srgbClr val="334155"/>
                </a:solidFill>
                <a:latin typeface="Helvetica Neue"/>
              </a:rPr>
              <a:t>Draft the patch. A human approves it.</a:t>
            </a:r>
          </a:p>
        </p:txBody>
      </p:sp>
      <p:sp>
        <p:nvSpPr>
          <p:cNvPr id="15" name="Rectangle 14"/>
          <p:cNvSpPr/>
          <p:nvPr/>
        </p:nvSpPr>
        <p:spPr>
          <a:xfrm>
            <a:off x="8001000" y="1691640"/>
            <a:ext cx="3401568" cy="137160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01000" y="1691640"/>
            <a:ext cx="3401568" cy="50292"/>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75320" y="1965960"/>
            <a:ext cx="2834640" cy="320040"/>
          </a:xfrm>
          <a:prstGeom prst="rect">
            <a:avLst/>
          </a:prstGeom>
          <a:noFill/>
        </p:spPr>
        <p:txBody>
          <a:bodyPr wrap="square" lIns="0" tIns="0" rIns="0" bIns="0" anchor="t">
            <a:spAutoFit/>
          </a:bodyPr>
          <a:lstStyle/>
          <a:p>
            <a:pPr algn="l">
              <a:lnSpc>
                <a:spcPct val="128000"/>
              </a:lnSpc>
              <a:spcAft>
                <a:spcPts val="0"/>
              </a:spcAft>
            </a:pPr>
            <a:r>
              <a:rPr sz="1700" b="1" i="0">
                <a:solidFill>
                  <a:srgbClr val="B91C1C"/>
                </a:solidFill>
                <a:latin typeface="Helvetica Neue"/>
              </a:rPr>
              <a:t>Below 0.60</a:t>
            </a:r>
          </a:p>
        </p:txBody>
      </p:sp>
      <p:sp>
        <p:nvSpPr>
          <p:cNvPr id="18" name="TextBox 17"/>
          <p:cNvSpPr txBox="1"/>
          <p:nvPr/>
        </p:nvSpPr>
        <p:spPr>
          <a:xfrm>
            <a:off x="8275320" y="2395728"/>
            <a:ext cx="2880360" cy="548640"/>
          </a:xfrm>
          <a:prstGeom prst="rect">
            <a:avLst/>
          </a:prstGeom>
          <a:noFill/>
        </p:spPr>
        <p:txBody>
          <a:bodyPr wrap="square" lIns="0" tIns="0" rIns="0" bIns="0" anchor="t">
            <a:spAutoFit/>
          </a:bodyPr>
          <a:lstStyle/>
          <a:p>
            <a:pPr algn="l">
              <a:lnSpc>
                <a:spcPct val="128000"/>
              </a:lnSpc>
              <a:spcAft>
                <a:spcPts val="0"/>
              </a:spcAft>
            </a:pPr>
            <a:r>
              <a:rPr sz="1300" b="0" i="0">
                <a:solidFill>
                  <a:srgbClr val="334155"/>
                </a:solidFill>
                <a:latin typeface="Helvetica Neue"/>
              </a:rPr>
              <a:t>Escalate with the evidence. Do not guess.</a:t>
            </a:r>
          </a:p>
        </p:txBody>
      </p:sp>
      <p:sp>
        <p:nvSpPr>
          <p:cNvPr id="19" name="TextBox 18"/>
          <p:cNvSpPr txBox="1"/>
          <p:nvPr/>
        </p:nvSpPr>
        <p:spPr>
          <a:xfrm>
            <a:off x="777240" y="3401568"/>
            <a:ext cx="10637215" cy="274320"/>
          </a:xfrm>
          <a:prstGeom prst="rect">
            <a:avLst/>
          </a:prstGeom>
          <a:noFill/>
        </p:spPr>
        <p:txBody>
          <a:bodyPr wrap="square" lIns="0" tIns="0" rIns="0" bIns="0" anchor="t">
            <a:spAutoFit/>
          </a:bodyPr>
          <a:lstStyle/>
          <a:p>
            <a:pPr algn="l">
              <a:lnSpc>
                <a:spcPct val="128000"/>
              </a:lnSpc>
              <a:spcAft>
                <a:spcPts val="0"/>
              </a:spcAft>
            </a:pPr>
            <a:r>
              <a:rPr sz="1550" b="0" i="0">
                <a:solidFill>
                  <a:srgbClr val="334155"/>
                </a:solidFill>
                <a:latin typeface="Helvetica Neue"/>
              </a:rPr>
              <a:t>Set the floors in three places. The most specific one wins.</a:t>
            </a:r>
          </a:p>
        </p:txBody>
      </p:sp>
      <p:sp>
        <p:nvSpPr>
          <p:cNvPr id="20" name="Rounded Rectangle 19"/>
          <p:cNvSpPr/>
          <p:nvPr/>
        </p:nvSpPr>
        <p:spPr>
          <a:xfrm>
            <a:off x="777240" y="3794760"/>
            <a:ext cx="8778240" cy="1103947"/>
          </a:xfrm>
          <a:prstGeom prst="roundRect">
            <a:avLst>
              <a:gd name="adj" fmla="val 6000"/>
            </a:avLst>
          </a:prstGeom>
          <a:solidFill>
            <a:srgbClr val="F6F8FA"/>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0120" y="3977640"/>
            <a:ext cx="8412480" cy="738187"/>
          </a:xfrm>
          <a:prstGeom prst="rect">
            <a:avLst/>
          </a:prstGeom>
          <a:noFill/>
        </p:spPr>
        <p:txBody>
          <a:bodyPr wrap="square" lIns="0" tIns="0" rIns="0" bIns="0" anchor="t">
            <a:spAutoFit/>
          </a:bodyPr>
          <a:lstStyle/>
          <a:p>
            <a:pPr algn="l">
              <a:lnSpc>
                <a:spcPct val="135000"/>
              </a:lnSpc>
              <a:spcAft>
                <a:spcPts val="0"/>
              </a:spcAft>
            </a:pPr>
            <a:r>
              <a:rPr sz="1250" b="0" i="0">
                <a:solidFill>
                  <a:srgbClr val="334155"/>
                </a:solidFill>
                <a:latin typeface="Menlo"/>
              </a:rPr>
              <a:t>services.yaml   confidence_floors:      # per service — most specific</a:t>
            </a:r>
          </a:p>
          <a:p>
            <a:pPr algn="l">
              <a:lnSpc>
                <a:spcPct val="135000"/>
              </a:lnSpc>
              <a:spcAft>
                <a:spcPts val="0"/>
              </a:spcAft>
            </a:pPr>
            <a:r>
              <a:rPr sz="1250" b="0" i="0">
                <a:solidFill>
                  <a:srgbClr val="334155"/>
                </a:solidFill>
                <a:latin typeface="Menlo"/>
              </a:rPr>
              <a:t>.env            ASHS_AUTONOMOUS_FLOOR   # per environment</a:t>
            </a:r>
          </a:p>
          <a:p>
            <a:pPr algn="l">
              <a:lnSpc>
                <a:spcPct val="135000"/>
              </a:lnSpc>
              <a:spcAft>
                <a:spcPts val="0"/>
              </a:spcAft>
            </a:pPr>
            <a:r>
              <a:rPr sz="1250" b="0" i="0">
                <a:solidFill>
                  <a:srgbClr val="334155"/>
                </a:solidFill>
                <a:latin typeface="Menlo"/>
              </a:rPr>
              <a:t>policy.yaml     confidence:             # global default</a:t>
            </a:r>
          </a:p>
        </p:txBody>
      </p:sp>
      <p:sp>
        <p:nvSpPr>
          <p:cNvPr id="22" name="TextBox 21"/>
          <p:cNvSpPr txBox="1"/>
          <p:nvPr/>
        </p:nvSpPr>
        <p:spPr>
          <a:xfrm>
            <a:off x="777240" y="5349240"/>
            <a:ext cx="10637215" cy="548640"/>
          </a:xfrm>
          <a:prstGeom prst="rect">
            <a:avLst/>
          </a:prstGeom>
          <a:noFill/>
        </p:spPr>
        <p:txBody>
          <a:bodyPr wrap="square" lIns="0" tIns="0" rIns="0" bIns="0" anchor="t">
            <a:spAutoFit/>
          </a:bodyPr>
          <a:lstStyle/>
          <a:p>
            <a:pPr algn="l">
              <a:lnSpc>
                <a:spcPct val="128000"/>
              </a:lnSpc>
              <a:spcAft>
                <a:spcPts val="0"/>
              </a:spcAft>
            </a:pPr>
            <a:r>
              <a:rPr sz="1400" b="0" i="0">
                <a:solidFill>
                  <a:srgbClr val="64748B"/>
                </a:solidFill>
                <a:latin typeface="Helvetica Neue"/>
              </a:rPr>
              <a:t>"Act at 0.85 on the product, but demand 0.95 before anything touches emission factors" is one line of YAML. That is an ownership decision, not a code change.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77240" y="420624"/>
            <a:ext cx="10637215" cy="219456"/>
          </a:xfrm>
          <a:prstGeom prst="rect">
            <a:avLst/>
          </a:prstGeom>
          <a:noFill/>
        </p:spPr>
        <p:txBody>
          <a:bodyPr wrap="square" lIns="0" tIns="0" rIns="0" bIns="0" anchor="t">
            <a:spAutoFit/>
          </a:bodyPr>
          <a:lstStyle/>
          <a:p>
            <a:pPr algn="l">
              <a:lnSpc>
                <a:spcPct val="128000"/>
              </a:lnSpc>
              <a:spcAft>
                <a:spcPts val="0"/>
              </a:spcAft>
            </a:pPr>
            <a:r>
              <a:rPr sz="950" b="1" i="0" spc="160">
                <a:solidFill>
                  <a:srgbClr val="2F81F7"/>
                </a:solidFill>
                <a:latin typeface="Helvetica Neue"/>
              </a:rPr>
              <a:t>WHAT STOPS IT</a:t>
            </a:r>
          </a:p>
        </p:txBody>
      </p:sp>
      <p:sp>
        <p:nvSpPr>
          <p:cNvPr id="3" name="TextBox 2"/>
          <p:cNvSpPr txBox="1"/>
          <p:nvPr/>
        </p:nvSpPr>
        <p:spPr>
          <a:xfrm>
            <a:off x="777240" y="658368"/>
            <a:ext cx="10637215" cy="566928"/>
          </a:xfrm>
          <a:prstGeom prst="rect">
            <a:avLst/>
          </a:prstGeom>
          <a:noFill/>
        </p:spPr>
        <p:txBody>
          <a:bodyPr wrap="square" lIns="0" tIns="0" rIns="0" bIns="0" anchor="t">
            <a:spAutoFit/>
          </a:bodyPr>
          <a:lstStyle/>
          <a:p>
            <a:pPr algn="l">
              <a:lnSpc>
                <a:spcPct val="106000"/>
              </a:lnSpc>
              <a:spcAft>
                <a:spcPts val="0"/>
              </a:spcAft>
            </a:pPr>
            <a:r>
              <a:rPr sz="2900" b="1" i="0">
                <a:solidFill>
                  <a:srgbClr val="0F172A"/>
                </a:solidFill>
                <a:latin typeface="Helvetica Neue"/>
              </a:rPr>
              <a:t>Guardrails, written in code</a:t>
            </a:r>
          </a:p>
        </p:txBody>
      </p:sp>
      <p:sp>
        <p:nvSpPr>
          <p:cNvPr id="4" name="Rectangle 3"/>
          <p:cNvSpPr/>
          <p:nvPr/>
        </p:nvSpPr>
        <p:spPr>
          <a:xfrm>
            <a:off x="777240" y="1316736"/>
            <a:ext cx="1051560" cy="25400"/>
          </a:xfrm>
          <a:prstGeom prst="rect">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6382512"/>
            <a:ext cx="5486400" cy="201168"/>
          </a:xfrm>
          <a:prstGeom prst="rect">
            <a:avLst/>
          </a:prstGeom>
          <a:noFill/>
        </p:spPr>
        <p:txBody>
          <a:bodyPr wrap="square" lIns="0" tIns="0" rIns="0" bIns="0" anchor="t">
            <a:spAutoFit/>
          </a:bodyPr>
          <a:lstStyle/>
          <a:p>
            <a:pPr algn="l">
              <a:lnSpc>
                <a:spcPct val="128000"/>
              </a:lnSpc>
              <a:spcAft>
                <a:spcPts val="0"/>
              </a:spcAft>
            </a:pPr>
            <a:r>
              <a:rPr sz="850" b="0" i="0">
                <a:solidFill>
                  <a:srgbClr val="94A3B8"/>
                </a:solidFill>
                <a:latin typeface="Helvetica Neue"/>
              </a:rPr>
              <a:t>ASHS · Agentic Self-Healing System</a:t>
            </a:r>
          </a:p>
        </p:txBody>
      </p:sp>
      <p:sp>
        <p:nvSpPr>
          <p:cNvPr id="6" name="TextBox 5"/>
          <p:cNvSpPr txBox="1"/>
          <p:nvPr/>
        </p:nvSpPr>
        <p:spPr>
          <a:xfrm>
            <a:off x="10500055" y="6382512"/>
            <a:ext cx="914400" cy="201168"/>
          </a:xfrm>
          <a:prstGeom prst="rect">
            <a:avLst/>
          </a:prstGeom>
          <a:noFill/>
        </p:spPr>
        <p:txBody>
          <a:bodyPr wrap="square" lIns="0" tIns="0" rIns="0" bIns="0" anchor="t">
            <a:spAutoFit/>
          </a:bodyPr>
          <a:lstStyle/>
          <a:p>
            <a:pPr algn="r">
              <a:lnSpc>
                <a:spcPct val="128000"/>
              </a:lnSpc>
              <a:spcAft>
                <a:spcPts val="0"/>
              </a:spcAft>
            </a:pPr>
            <a:r>
              <a:rPr sz="850" b="0" i="0">
                <a:solidFill>
                  <a:srgbClr val="94A3B8"/>
                </a:solidFill>
                <a:latin typeface="Helvetica Neue"/>
              </a:rPr>
              <a:t>7</a:t>
            </a:r>
          </a:p>
        </p:txBody>
      </p:sp>
      <p:sp>
        <p:nvSpPr>
          <p:cNvPr id="7" name="TextBox 6"/>
          <p:cNvSpPr txBox="1"/>
          <p:nvPr/>
        </p:nvSpPr>
        <p:spPr>
          <a:xfrm>
            <a:off x="777240" y="1691640"/>
            <a:ext cx="3566160"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Guardrail</a:t>
            </a:r>
          </a:p>
        </p:txBody>
      </p:sp>
      <p:sp>
        <p:nvSpPr>
          <p:cNvPr id="8" name="TextBox 7"/>
          <p:cNvSpPr txBox="1"/>
          <p:nvPr/>
        </p:nvSpPr>
        <p:spPr>
          <a:xfrm>
            <a:off x="4343400" y="1691640"/>
            <a:ext cx="7040880"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How it is enforced</a:t>
            </a:r>
          </a:p>
        </p:txBody>
      </p:sp>
      <p:sp>
        <p:nvSpPr>
          <p:cNvPr id="9" name="Rectangle 8"/>
          <p:cNvSpPr/>
          <p:nvPr/>
        </p:nvSpPr>
        <p:spPr>
          <a:xfrm>
            <a:off x="777240" y="1984248"/>
            <a:ext cx="1060704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2112264"/>
            <a:ext cx="3419856" cy="256032"/>
          </a:xfrm>
          <a:prstGeom prst="rect">
            <a:avLst/>
          </a:prstGeom>
          <a:noFill/>
        </p:spPr>
        <p:txBody>
          <a:bodyPr wrap="square" lIns="0" tIns="0" rIns="0" bIns="0" anchor="t">
            <a:spAutoFit/>
          </a:bodyPr>
          <a:lstStyle/>
          <a:p>
            <a:pPr algn="l">
              <a:lnSpc>
                <a:spcPct val="118000"/>
              </a:lnSpc>
              <a:spcAft>
                <a:spcPts val="0"/>
              </a:spcAft>
            </a:pPr>
            <a:r>
              <a:rPr sz="1300" b="1" i="0">
                <a:solidFill>
                  <a:srgbClr val="0F172A"/>
                </a:solidFill>
                <a:latin typeface="Helvetica Neue"/>
              </a:rPr>
              <a:t>Test gate</a:t>
            </a:r>
          </a:p>
        </p:txBody>
      </p:sp>
      <p:sp>
        <p:nvSpPr>
          <p:cNvPr id="11" name="TextBox 10"/>
          <p:cNvSpPr txBox="1"/>
          <p:nvPr/>
        </p:nvSpPr>
        <p:spPr>
          <a:xfrm>
            <a:off x="4343400" y="2112264"/>
            <a:ext cx="6894576" cy="256032"/>
          </a:xfrm>
          <a:prstGeom prst="rect">
            <a:avLst/>
          </a:prstGeom>
          <a:noFill/>
        </p:spPr>
        <p:txBody>
          <a:bodyPr wrap="square" lIns="0" tIns="0" rIns="0" bIns="0" anchor="t">
            <a:spAutoFit/>
          </a:bodyPr>
          <a:lstStyle/>
          <a:p>
            <a:pPr algn="l">
              <a:lnSpc>
                <a:spcPct val="118000"/>
              </a:lnSpc>
              <a:spcAft>
                <a:spcPts val="0"/>
              </a:spcAft>
            </a:pPr>
            <a:r>
              <a:rPr sz="1300" b="1" i="0">
                <a:solidFill>
                  <a:srgbClr val="15803D"/>
                </a:solidFill>
                <a:latin typeface="Helvetica Neue"/>
              </a:rPr>
              <a:t>Patch rejected unless its test fails before the patch and passes after</a:t>
            </a:r>
          </a:p>
        </p:txBody>
      </p:sp>
      <p:sp>
        <p:nvSpPr>
          <p:cNvPr id="12" name="Rectangle 11"/>
          <p:cNvSpPr/>
          <p:nvPr/>
        </p:nvSpPr>
        <p:spPr>
          <a:xfrm>
            <a:off x="667512" y="2478024"/>
            <a:ext cx="10826496" cy="411479"/>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2542032"/>
            <a:ext cx="341985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Path allowlist</a:t>
            </a:r>
          </a:p>
        </p:txBody>
      </p:sp>
      <p:sp>
        <p:nvSpPr>
          <p:cNvPr id="14" name="TextBox 13"/>
          <p:cNvSpPr txBox="1"/>
          <p:nvPr/>
        </p:nvSpPr>
        <p:spPr>
          <a:xfrm>
            <a:off x="4343400" y="2542032"/>
            <a:ext cx="689457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Tool gateway, per agent, from services.yaml</a:t>
            </a:r>
          </a:p>
        </p:txBody>
      </p:sp>
      <p:sp>
        <p:nvSpPr>
          <p:cNvPr id="15" name="TextBox 14"/>
          <p:cNvSpPr txBox="1"/>
          <p:nvPr/>
        </p:nvSpPr>
        <p:spPr>
          <a:xfrm>
            <a:off x="777240" y="2971800"/>
            <a:ext cx="341985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Protected zone</a:t>
            </a:r>
          </a:p>
        </p:txBody>
      </p:sp>
      <p:sp>
        <p:nvSpPr>
          <p:cNvPr id="16" name="TextBox 15"/>
          <p:cNvSpPr txBox="1"/>
          <p:nvPr/>
        </p:nvSpPr>
        <p:spPr>
          <a:xfrm>
            <a:off x="4343400" y="2971800"/>
            <a:ext cx="689457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Emission factors, formulas, migrations, platform/**</a:t>
            </a:r>
          </a:p>
        </p:txBody>
      </p:sp>
      <p:sp>
        <p:nvSpPr>
          <p:cNvPr id="17" name="Rectangle 16"/>
          <p:cNvSpPr/>
          <p:nvPr/>
        </p:nvSpPr>
        <p:spPr>
          <a:xfrm>
            <a:off x="667512" y="3337560"/>
            <a:ext cx="10826496" cy="411479"/>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3401568"/>
            <a:ext cx="341985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Change budget</a:t>
            </a:r>
          </a:p>
        </p:txBody>
      </p:sp>
      <p:sp>
        <p:nvSpPr>
          <p:cNvPr id="19" name="TextBox 18"/>
          <p:cNvSpPr txBox="1"/>
          <p:nvPr/>
        </p:nvSpPr>
        <p:spPr>
          <a:xfrm>
            <a:off x="4343400" y="3401568"/>
            <a:ext cx="689457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A cap on autonomous merges per service per day</a:t>
            </a:r>
          </a:p>
        </p:txBody>
      </p:sp>
      <p:sp>
        <p:nvSpPr>
          <p:cNvPr id="20" name="TextBox 19"/>
          <p:cNvSpPr txBox="1"/>
          <p:nvPr/>
        </p:nvSpPr>
        <p:spPr>
          <a:xfrm>
            <a:off x="777240" y="3831335"/>
            <a:ext cx="341985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Loop breaker</a:t>
            </a:r>
          </a:p>
        </p:txBody>
      </p:sp>
      <p:sp>
        <p:nvSpPr>
          <p:cNvPr id="21" name="TextBox 20"/>
          <p:cNvSpPr txBox="1"/>
          <p:nvPr/>
        </p:nvSpPr>
        <p:spPr>
          <a:xfrm>
            <a:off x="4343400" y="3831335"/>
            <a:ext cx="689457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Two failed attempts on one fingerprint, then a human</a:t>
            </a:r>
          </a:p>
        </p:txBody>
      </p:sp>
      <p:sp>
        <p:nvSpPr>
          <p:cNvPr id="22" name="Rectangle 21"/>
          <p:cNvSpPr/>
          <p:nvPr/>
        </p:nvSpPr>
        <p:spPr>
          <a:xfrm>
            <a:off x="667512" y="4197095"/>
            <a:ext cx="10826496" cy="411479"/>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4261103"/>
            <a:ext cx="341985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No self-modification</a:t>
            </a:r>
          </a:p>
        </p:txBody>
      </p:sp>
      <p:sp>
        <p:nvSpPr>
          <p:cNvPr id="24" name="TextBox 23"/>
          <p:cNvSpPr txBox="1"/>
          <p:nvPr/>
        </p:nvSpPr>
        <p:spPr>
          <a:xfrm>
            <a:off x="4343400" y="4261103"/>
            <a:ext cx="689457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Agents cannot touch ASHS's own policy</a:t>
            </a:r>
          </a:p>
        </p:txBody>
      </p:sp>
      <p:sp>
        <p:nvSpPr>
          <p:cNvPr id="25" name="TextBox 24"/>
          <p:cNvSpPr txBox="1"/>
          <p:nvPr/>
        </p:nvSpPr>
        <p:spPr>
          <a:xfrm>
            <a:off x="777240" y="4690871"/>
            <a:ext cx="341985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Kill switch</a:t>
            </a:r>
          </a:p>
        </p:txBody>
      </p:sp>
      <p:sp>
        <p:nvSpPr>
          <p:cNvPr id="26" name="TextBox 25"/>
          <p:cNvSpPr txBox="1"/>
          <p:nvPr/>
        </p:nvSpPr>
        <p:spPr>
          <a:xfrm>
            <a:off x="4343400" y="4690871"/>
            <a:ext cx="689457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Halts the reconciler — checked on every pass</a:t>
            </a:r>
          </a:p>
        </p:txBody>
      </p:sp>
      <p:sp>
        <p:nvSpPr>
          <p:cNvPr id="27" name="Rectangle 26"/>
          <p:cNvSpPr/>
          <p:nvPr/>
        </p:nvSpPr>
        <p:spPr>
          <a:xfrm>
            <a:off x="777240" y="5349239"/>
            <a:ext cx="10637215" cy="56692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77240" y="5349239"/>
            <a:ext cx="41148" cy="566928"/>
          </a:xfrm>
          <a:prstGeom prst="rect">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33271" y="5349239"/>
            <a:ext cx="10180015" cy="566928"/>
          </a:xfrm>
          <a:prstGeom prst="rect">
            <a:avLst/>
          </a:prstGeom>
          <a:noFill/>
        </p:spPr>
        <p:txBody>
          <a:bodyPr wrap="square" lIns="0" tIns="0" rIns="0" bIns="0" anchor="ctr">
            <a:spAutoFit/>
          </a:bodyPr>
          <a:lstStyle/>
          <a:p>
            <a:pPr algn="l">
              <a:lnSpc>
                <a:spcPct val="124000"/>
              </a:lnSpc>
              <a:spcAft>
                <a:spcPts val="0"/>
              </a:spcAft>
            </a:pPr>
            <a:r>
              <a:rPr sz="1500" b="1" i="0">
                <a:solidFill>
                  <a:srgbClr val="0F172A"/>
                </a:solidFill>
                <a:latin typeface="Helvetica Neue"/>
              </a:rPr>
              <a:t>Eleven typed tools. No raw shell, no kubectl, no eval. The exit tests assert those do not exist.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77240" y="420624"/>
            <a:ext cx="10637215" cy="219456"/>
          </a:xfrm>
          <a:prstGeom prst="rect">
            <a:avLst/>
          </a:prstGeom>
          <a:noFill/>
        </p:spPr>
        <p:txBody>
          <a:bodyPr wrap="square" lIns="0" tIns="0" rIns="0" bIns="0" anchor="t">
            <a:spAutoFit/>
          </a:bodyPr>
          <a:lstStyle/>
          <a:p>
            <a:pPr algn="l">
              <a:lnSpc>
                <a:spcPct val="128000"/>
              </a:lnSpc>
              <a:spcAft>
                <a:spcPts val="0"/>
              </a:spcAft>
            </a:pPr>
            <a:r>
              <a:rPr sz="950" b="1" i="0" spc="160">
                <a:solidFill>
                  <a:srgbClr val="2F81F7"/>
                </a:solidFill>
                <a:latin typeface="Helvetica Neue"/>
              </a:rPr>
              <a:t>WHAT STOPS IT</a:t>
            </a:r>
          </a:p>
        </p:txBody>
      </p:sp>
      <p:sp>
        <p:nvSpPr>
          <p:cNvPr id="3" name="TextBox 2"/>
          <p:cNvSpPr txBox="1"/>
          <p:nvPr/>
        </p:nvSpPr>
        <p:spPr>
          <a:xfrm>
            <a:off x="777240" y="658368"/>
            <a:ext cx="10637215" cy="566928"/>
          </a:xfrm>
          <a:prstGeom prst="rect">
            <a:avLst/>
          </a:prstGeom>
          <a:noFill/>
        </p:spPr>
        <p:txBody>
          <a:bodyPr wrap="square" lIns="0" tIns="0" rIns="0" bIns="0" anchor="t">
            <a:spAutoFit/>
          </a:bodyPr>
          <a:lstStyle/>
          <a:p>
            <a:pPr algn="l">
              <a:lnSpc>
                <a:spcPct val="106000"/>
              </a:lnSpc>
              <a:spcAft>
                <a:spcPts val="0"/>
              </a:spcAft>
            </a:pPr>
            <a:r>
              <a:rPr sz="2900" b="1" i="0">
                <a:solidFill>
                  <a:srgbClr val="0F172A"/>
                </a:solidFill>
                <a:latin typeface="Helvetica Neue"/>
              </a:rPr>
              <a:t>The test gate is the centrepiece</a:t>
            </a:r>
          </a:p>
        </p:txBody>
      </p:sp>
      <p:sp>
        <p:nvSpPr>
          <p:cNvPr id="4" name="Rectangle 3"/>
          <p:cNvSpPr/>
          <p:nvPr/>
        </p:nvSpPr>
        <p:spPr>
          <a:xfrm>
            <a:off x="777240" y="1316736"/>
            <a:ext cx="1051560" cy="25400"/>
          </a:xfrm>
          <a:prstGeom prst="rect">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6382512"/>
            <a:ext cx="5486400" cy="201168"/>
          </a:xfrm>
          <a:prstGeom prst="rect">
            <a:avLst/>
          </a:prstGeom>
          <a:noFill/>
        </p:spPr>
        <p:txBody>
          <a:bodyPr wrap="square" lIns="0" tIns="0" rIns="0" bIns="0" anchor="t">
            <a:spAutoFit/>
          </a:bodyPr>
          <a:lstStyle/>
          <a:p>
            <a:pPr algn="l">
              <a:lnSpc>
                <a:spcPct val="128000"/>
              </a:lnSpc>
              <a:spcAft>
                <a:spcPts val="0"/>
              </a:spcAft>
            </a:pPr>
            <a:r>
              <a:rPr sz="850" b="0" i="0">
                <a:solidFill>
                  <a:srgbClr val="94A3B8"/>
                </a:solidFill>
                <a:latin typeface="Helvetica Neue"/>
              </a:rPr>
              <a:t>ASHS · Agentic Self-Healing System</a:t>
            </a:r>
          </a:p>
        </p:txBody>
      </p:sp>
      <p:sp>
        <p:nvSpPr>
          <p:cNvPr id="6" name="TextBox 5"/>
          <p:cNvSpPr txBox="1"/>
          <p:nvPr/>
        </p:nvSpPr>
        <p:spPr>
          <a:xfrm>
            <a:off x="10500055" y="6382512"/>
            <a:ext cx="914400" cy="201168"/>
          </a:xfrm>
          <a:prstGeom prst="rect">
            <a:avLst/>
          </a:prstGeom>
          <a:noFill/>
        </p:spPr>
        <p:txBody>
          <a:bodyPr wrap="square" lIns="0" tIns="0" rIns="0" bIns="0" anchor="t">
            <a:spAutoFit/>
          </a:bodyPr>
          <a:lstStyle/>
          <a:p>
            <a:pPr algn="r">
              <a:lnSpc>
                <a:spcPct val="128000"/>
              </a:lnSpc>
              <a:spcAft>
                <a:spcPts val="0"/>
              </a:spcAft>
            </a:pPr>
            <a:r>
              <a:rPr sz="850" b="0" i="0">
                <a:solidFill>
                  <a:srgbClr val="94A3B8"/>
                </a:solidFill>
                <a:latin typeface="Helvetica Neue"/>
              </a:rPr>
              <a:t>8</a:t>
            </a:r>
          </a:p>
        </p:txBody>
      </p:sp>
      <p:sp>
        <p:nvSpPr>
          <p:cNvPr id="7" name="Rounded Rectangle 6"/>
          <p:cNvSpPr/>
          <p:nvPr/>
        </p:nvSpPr>
        <p:spPr>
          <a:xfrm>
            <a:off x="777240" y="1691640"/>
            <a:ext cx="7498079" cy="956310"/>
          </a:xfrm>
          <a:prstGeom prst="roundRect">
            <a:avLst>
              <a:gd name="adj" fmla="val 6000"/>
            </a:avLst>
          </a:prstGeom>
          <a:solidFill>
            <a:srgbClr val="F6F8FA"/>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874520"/>
            <a:ext cx="7132319" cy="590550"/>
          </a:xfrm>
          <a:prstGeom prst="rect">
            <a:avLst/>
          </a:prstGeom>
          <a:noFill/>
        </p:spPr>
        <p:txBody>
          <a:bodyPr wrap="square" lIns="0" tIns="0" rIns="0" bIns="0" anchor="t">
            <a:spAutoFit/>
          </a:bodyPr>
          <a:lstStyle/>
          <a:p>
            <a:pPr algn="l">
              <a:lnSpc>
                <a:spcPct val="135000"/>
              </a:lnSpc>
              <a:spcAft>
                <a:spcPts val="0"/>
              </a:spcAft>
            </a:pPr>
            <a:r>
              <a:rPr sz="1500" b="0" i="0">
                <a:solidFill>
                  <a:srgbClr val="334155"/>
                </a:solidFill>
                <a:latin typeface="Menlo"/>
              </a:rPr>
              <a:t>TEST GATE  pre_patch:   FAILED    (it must fail here)</a:t>
            </a:r>
          </a:p>
          <a:p>
            <a:pPr algn="l">
              <a:lnSpc>
                <a:spcPct val="135000"/>
              </a:lnSpc>
              <a:spcAft>
                <a:spcPts val="0"/>
              </a:spcAft>
            </a:pPr>
            <a:r>
              <a:rPr sz="1500" b="0" i="0">
                <a:solidFill>
                  <a:srgbClr val="334155"/>
                </a:solidFill>
                <a:latin typeface="Menlo"/>
              </a:rPr>
              <a:t>TEST GATE  post_patch:  passed    (it must pass here)</a:t>
            </a:r>
          </a:p>
        </p:txBody>
      </p:sp>
      <p:sp>
        <p:nvSpPr>
          <p:cNvPr id="9" name="TextBox 8"/>
          <p:cNvSpPr txBox="1"/>
          <p:nvPr/>
        </p:nvSpPr>
        <p:spPr>
          <a:xfrm>
            <a:off x="777240" y="2880360"/>
            <a:ext cx="10637215" cy="411480"/>
          </a:xfrm>
          <a:prstGeom prst="rect">
            <a:avLst/>
          </a:prstGeom>
          <a:noFill/>
        </p:spPr>
        <p:txBody>
          <a:bodyPr wrap="square" lIns="0" tIns="0" rIns="0" bIns="0" anchor="t">
            <a:spAutoFit/>
          </a:bodyPr>
          <a:lstStyle/>
          <a:p>
            <a:pPr algn="l">
              <a:lnSpc>
                <a:spcPct val="128000"/>
              </a:lnSpc>
              <a:spcAft>
                <a:spcPts val="0"/>
              </a:spcAft>
            </a:pPr>
            <a:r>
              <a:rPr sz="2200" b="1" i="0">
                <a:solidFill>
                  <a:srgbClr val="0F172A"/>
                </a:solidFill>
                <a:latin typeface="Helvetica Neue"/>
              </a:rPr>
              <a:t>A test that passes before the fix proves nothing.</a:t>
            </a:r>
          </a:p>
        </p:txBody>
      </p:sp>
      <p:sp>
        <p:nvSpPr>
          <p:cNvPr id="10" name="TextBox 9"/>
          <p:cNvSpPr txBox="1"/>
          <p:nvPr/>
        </p:nvSpPr>
        <p:spPr>
          <a:xfrm>
            <a:off x="777240" y="3520440"/>
            <a:ext cx="10241280" cy="822960"/>
          </a:xfrm>
          <a:prstGeom prst="rect">
            <a:avLst/>
          </a:prstGeom>
          <a:noFill/>
        </p:spPr>
        <p:txBody>
          <a:bodyPr wrap="square" lIns="0" tIns="0" rIns="0" bIns="0" anchor="t">
            <a:spAutoFit/>
          </a:bodyPr>
          <a:lstStyle/>
          <a:p>
            <a:pPr algn="l">
              <a:lnSpc>
                <a:spcPct val="128000"/>
              </a:lnSpc>
              <a:spcAft>
                <a:spcPts val="0"/>
              </a:spcAft>
            </a:pPr>
            <a:r>
              <a:rPr sz="1550" b="0" i="0">
                <a:solidFill>
                  <a:srgbClr val="334155"/>
                </a:solidFill>
                <a:latin typeface="Helvetica Neue"/>
              </a:rPr>
              <a:t>So the patch is rejected on the spot — whatever the model claimed about it, and however good the diff looks. The model writes the patch and the test. It does not get to decide whether either one is acceptable.</a:t>
            </a:r>
          </a:p>
        </p:txBody>
      </p:sp>
      <p:sp>
        <p:nvSpPr>
          <p:cNvPr id="11" name="Rectangle 10"/>
          <p:cNvSpPr/>
          <p:nvPr/>
        </p:nvSpPr>
        <p:spPr>
          <a:xfrm>
            <a:off x="777240" y="4663440"/>
            <a:ext cx="10637215" cy="56692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77240" y="4663440"/>
            <a:ext cx="41148" cy="566928"/>
          </a:xfrm>
          <a:prstGeom prst="rect">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33271" y="4663440"/>
            <a:ext cx="10180015" cy="566928"/>
          </a:xfrm>
          <a:prstGeom prst="rect">
            <a:avLst/>
          </a:prstGeom>
          <a:noFill/>
        </p:spPr>
        <p:txBody>
          <a:bodyPr wrap="square" lIns="0" tIns="0" rIns="0" bIns="0" anchor="ctr">
            <a:spAutoFit/>
          </a:bodyPr>
          <a:lstStyle/>
          <a:p>
            <a:pPr algn="l">
              <a:lnSpc>
                <a:spcPct val="124000"/>
              </a:lnSpc>
              <a:spcAft>
                <a:spcPts val="0"/>
              </a:spcAft>
            </a:pPr>
            <a:r>
              <a:rPr sz="1450" b="0" i="0">
                <a:solidFill>
                  <a:srgbClr val="0F172A"/>
                </a:solidFill>
                <a:latin typeface="Helvetica Neue"/>
              </a:rPr>
              <a:t>If the defect stopped reproducing on its own, the incident closes as stale. No patch, and nobody gets paged.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77240" y="420624"/>
            <a:ext cx="10637215" cy="219456"/>
          </a:xfrm>
          <a:prstGeom prst="rect">
            <a:avLst/>
          </a:prstGeom>
          <a:noFill/>
        </p:spPr>
        <p:txBody>
          <a:bodyPr wrap="square" lIns="0" tIns="0" rIns="0" bIns="0" anchor="t">
            <a:spAutoFit/>
          </a:bodyPr>
          <a:lstStyle/>
          <a:p>
            <a:pPr algn="l">
              <a:lnSpc>
                <a:spcPct val="128000"/>
              </a:lnSpc>
              <a:spcAft>
                <a:spcPts val="0"/>
              </a:spcAft>
            </a:pPr>
            <a:r>
              <a:rPr sz="950" b="1" i="0" spc="160">
                <a:solidFill>
                  <a:srgbClr val="2F81F7"/>
                </a:solidFill>
                <a:latin typeface="Helvetica Neue"/>
              </a:rPr>
              <a:t>WHY TRUST IT</a:t>
            </a:r>
          </a:p>
        </p:txBody>
      </p:sp>
      <p:sp>
        <p:nvSpPr>
          <p:cNvPr id="3" name="TextBox 2"/>
          <p:cNvSpPr txBox="1"/>
          <p:nvPr/>
        </p:nvSpPr>
        <p:spPr>
          <a:xfrm>
            <a:off x="777240" y="658368"/>
            <a:ext cx="10637215" cy="566928"/>
          </a:xfrm>
          <a:prstGeom prst="rect">
            <a:avLst/>
          </a:prstGeom>
          <a:noFill/>
        </p:spPr>
        <p:txBody>
          <a:bodyPr wrap="square" lIns="0" tIns="0" rIns="0" bIns="0" anchor="t">
            <a:spAutoFit/>
          </a:bodyPr>
          <a:lstStyle/>
          <a:p>
            <a:pPr algn="l">
              <a:lnSpc>
                <a:spcPct val="106000"/>
              </a:lnSpc>
              <a:spcAft>
                <a:spcPts val="0"/>
              </a:spcAft>
            </a:pPr>
            <a:r>
              <a:rPr sz="2900" b="1" i="0">
                <a:solidFill>
                  <a:srgbClr val="0F172A"/>
                </a:solidFill>
                <a:latin typeface="Helvetica Neue"/>
              </a:rPr>
              <a:t>Trust the envelope, not the model</a:t>
            </a:r>
          </a:p>
        </p:txBody>
      </p:sp>
      <p:sp>
        <p:nvSpPr>
          <p:cNvPr id="4" name="Rectangle 3"/>
          <p:cNvSpPr/>
          <p:nvPr/>
        </p:nvSpPr>
        <p:spPr>
          <a:xfrm>
            <a:off x="777240" y="1316736"/>
            <a:ext cx="1051560" cy="25400"/>
          </a:xfrm>
          <a:prstGeom prst="rect">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6382512"/>
            <a:ext cx="5486400" cy="201168"/>
          </a:xfrm>
          <a:prstGeom prst="rect">
            <a:avLst/>
          </a:prstGeom>
          <a:noFill/>
        </p:spPr>
        <p:txBody>
          <a:bodyPr wrap="square" lIns="0" tIns="0" rIns="0" bIns="0" anchor="t">
            <a:spAutoFit/>
          </a:bodyPr>
          <a:lstStyle/>
          <a:p>
            <a:pPr algn="l">
              <a:lnSpc>
                <a:spcPct val="128000"/>
              </a:lnSpc>
              <a:spcAft>
                <a:spcPts val="0"/>
              </a:spcAft>
            </a:pPr>
            <a:r>
              <a:rPr sz="850" b="0" i="0">
                <a:solidFill>
                  <a:srgbClr val="94A3B8"/>
                </a:solidFill>
                <a:latin typeface="Helvetica Neue"/>
              </a:rPr>
              <a:t>ASHS · Agentic Self-Healing System</a:t>
            </a:r>
          </a:p>
        </p:txBody>
      </p:sp>
      <p:sp>
        <p:nvSpPr>
          <p:cNvPr id="6" name="TextBox 5"/>
          <p:cNvSpPr txBox="1"/>
          <p:nvPr/>
        </p:nvSpPr>
        <p:spPr>
          <a:xfrm>
            <a:off x="10500055" y="6382512"/>
            <a:ext cx="914400" cy="201168"/>
          </a:xfrm>
          <a:prstGeom prst="rect">
            <a:avLst/>
          </a:prstGeom>
          <a:noFill/>
        </p:spPr>
        <p:txBody>
          <a:bodyPr wrap="square" lIns="0" tIns="0" rIns="0" bIns="0" anchor="t">
            <a:spAutoFit/>
          </a:bodyPr>
          <a:lstStyle/>
          <a:p>
            <a:pPr algn="r">
              <a:lnSpc>
                <a:spcPct val="128000"/>
              </a:lnSpc>
              <a:spcAft>
                <a:spcPts val="0"/>
              </a:spcAft>
            </a:pPr>
            <a:r>
              <a:rPr sz="850" b="0" i="0">
                <a:solidFill>
                  <a:srgbClr val="94A3B8"/>
                </a:solidFill>
                <a:latin typeface="Helvetica Neue"/>
              </a:rPr>
              <a:t>9</a:t>
            </a:r>
          </a:p>
        </p:txBody>
      </p:sp>
      <p:sp>
        <p:nvSpPr>
          <p:cNvPr id="7" name="TextBox 6"/>
          <p:cNvSpPr txBox="1"/>
          <p:nvPr/>
        </p:nvSpPr>
        <p:spPr>
          <a:xfrm>
            <a:off x="777240" y="1691640"/>
            <a:ext cx="3108960"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Property</a:t>
            </a:r>
          </a:p>
        </p:txBody>
      </p:sp>
      <p:sp>
        <p:nvSpPr>
          <p:cNvPr id="8" name="TextBox 7"/>
          <p:cNvSpPr txBox="1"/>
          <p:nvPr/>
        </p:nvSpPr>
        <p:spPr>
          <a:xfrm>
            <a:off x="3886200" y="1691640"/>
            <a:ext cx="7498079"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Because</a:t>
            </a:r>
          </a:p>
        </p:txBody>
      </p:sp>
      <p:sp>
        <p:nvSpPr>
          <p:cNvPr id="9" name="Rectangle 8"/>
          <p:cNvSpPr/>
          <p:nvPr/>
        </p:nvSpPr>
        <p:spPr>
          <a:xfrm>
            <a:off x="777240" y="1984248"/>
            <a:ext cx="1060704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2112264"/>
            <a:ext cx="296265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Auditable</a:t>
            </a:r>
          </a:p>
        </p:txBody>
      </p:sp>
      <p:sp>
        <p:nvSpPr>
          <p:cNvPr id="11" name="TextBox 10"/>
          <p:cNvSpPr txBox="1"/>
          <p:nvPr/>
        </p:nvSpPr>
        <p:spPr>
          <a:xfrm>
            <a:off x="3886200" y="2112264"/>
            <a:ext cx="7351775" cy="512064"/>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Every decision is an append-only row with the evidence behind it. Replayable from an incident ID.</a:t>
            </a:r>
          </a:p>
        </p:txBody>
      </p:sp>
      <p:sp>
        <p:nvSpPr>
          <p:cNvPr id="12" name="Rectangle 11"/>
          <p:cNvSpPr/>
          <p:nvPr/>
        </p:nvSpPr>
        <p:spPr>
          <a:xfrm>
            <a:off x="667512" y="2615184"/>
            <a:ext cx="10826496" cy="5486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2679192"/>
            <a:ext cx="296265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Deterministic</a:t>
            </a:r>
          </a:p>
        </p:txBody>
      </p:sp>
      <p:sp>
        <p:nvSpPr>
          <p:cNvPr id="14" name="TextBox 13"/>
          <p:cNvSpPr txBox="1"/>
          <p:nvPr/>
        </p:nvSpPr>
        <p:spPr>
          <a:xfrm>
            <a:off x="3886200" y="2679192"/>
            <a:ext cx="7351775" cy="512064"/>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Ownership, routing and policy never call a model. Same evidence, same verdict, every time.</a:t>
            </a:r>
          </a:p>
        </p:txBody>
      </p:sp>
      <p:sp>
        <p:nvSpPr>
          <p:cNvPr id="15" name="TextBox 14"/>
          <p:cNvSpPr txBox="1"/>
          <p:nvPr/>
        </p:nvSpPr>
        <p:spPr>
          <a:xfrm>
            <a:off x="777240" y="3246120"/>
            <a:ext cx="296265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Checkable by hand</a:t>
            </a:r>
          </a:p>
        </p:txBody>
      </p:sp>
      <p:sp>
        <p:nvSpPr>
          <p:cNvPr id="16" name="TextBox 15"/>
          <p:cNvSpPr txBox="1"/>
          <p:nvPr/>
        </p:nvSpPr>
        <p:spPr>
          <a:xfrm>
            <a:off x="3886200" y="3246120"/>
            <a:ext cx="7351775" cy="512064"/>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The decisive signal is a public schema against an observed payload. Re-run it yourself.</a:t>
            </a:r>
          </a:p>
        </p:txBody>
      </p:sp>
      <p:sp>
        <p:nvSpPr>
          <p:cNvPr id="17" name="Rectangle 16"/>
          <p:cNvSpPr/>
          <p:nvPr/>
        </p:nvSpPr>
        <p:spPr>
          <a:xfrm>
            <a:off x="667512" y="3749039"/>
            <a:ext cx="10826496" cy="5486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3813048"/>
            <a:ext cx="296265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Reversible</a:t>
            </a:r>
          </a:p>
        </p:txBody>
      </p:sp>
      <p:sp>
        <p:nvSpPr>
          <p:cNvPr id="19" name="TextBox 18"/>
          <p:cNvSpPr txBox="1"/>
          <p:nvPr/>
        </p:nvSpPr>
        <p:spPr>
          <a:xfrm>
            <a:off x="3886200" y="3813048"/>
            <a:ext cx="7351775"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Snapshot before any change. A failed check restores the source byte for byte.</a:t>
            </a:r>
          </a:p>
        </p:txBody>
      </p:sp>
      <p:sp>
        <p:nvSpPr>
          <p:cNvPr id="20" name="TextBox 19"/>
          <p:cNvSpPr txBox="1"/>
          <p:nvPr/>
        </p:nvSpPr>
        <p:spPr>
          <a:xfrm>
            <a:off x="777240" y="4379976"/>
            <a:ext cx="296265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Bounded</a:t>
            </a:r>
          </a:p>
        </p:txBody>
      </p:sp>
      <p:sp>
        <p:nvSpPr>
          <p:cNvPr id="21" name="TextBox 20"/>
          <p:cNvSpPr txBox="1"/>
          <p:nvPr/>
        </p:nvSpPr>
        <p:spPr>
          <a:xfrm>
            <a:off x="3886200" y="4379976"/>
            <a:ext cx="7351775" cy="512064"/>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Typed tools, path allowlist, protected zones, change budget, loop breaker, kill switch.</a:t>
            </a:r>
          </a:p>
        </p:txBody>
      </p:sp>
      <p:sp>
        <p:nvSpPr>
          <p:cNvPr id="22" name="Rectangle 21"/>
          <p:cNvSpPr/>
          <p:nvPr/>
        </p:nvSpPr>
        <p:spPr>
          <a:xfrm>
            <a:off x="777240" y="5175504"/>
            <a:ext cx="10637215" cy="566928"/>
          </a:xfrm>
          <a:prstGeom prst="rect">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77240" y="5175504"/>
            <a:ext cx="41148" cy="566928"/>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33271" y="5175504"/>
            <a:ext cx="10180015" cy="566928"/>
          </a:xfrm>
          <a:prstGeom prst="rect">
            <a:avLst/>
          </a:prstGeom>
          <a:noFill/>
        </p:spPr>
        <p:txBody>
          <a:bodyPr wrap="square" lIns="0" tIns="0" rIns="0" bIns="0" anchor="ctr">
            <a:spAutoFit/>
          </a:bodyPr>
          <a:lstStyle/>
          <a:p>
            <a:pPr algn="l">
              <a:lnSpc>
                <a:spcPct val="124000"/>
              </a:lnSpc>
              <a:spcAft>
                <a:spcPts val="0"/>
              </a:spcAft>
            </a:pPr>
            <a:r>
              <a:rPr sz="1600" b="1" i="0">
                <a:solidFill>
                  <a:srgbClr val="0F172A"/>
                </a:solidFill>
                <a:latin typeface="Helvetica Neue"/>
              </a:rPr>
              <a:t>And it stops. Below 0.85 it drafts and asks. Below 0.60 it refuses outright.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77240" y="420624"/>
            <a:ext cx="10637215" cy="219456"/>
          </a:xfrm>
          <a:prstGeom prst="rect">
            <a:avLst/>
          </a:prstGeom>
          <a:noFill/>
        </p:spPr>
        <p:txBody>
          <a:bodyPr wrap="square" lIns="0" tIns="0" rIns="0" bIns="0" anchor="t">
            <a:spAutoFit/>
          </a:bodyPr>
          <a:lstStyle/>
          <a:p>
            <a:pPr algn="l">
              <a:lnSpc>
                <a:spcPct val="128000"/>
              </a:lnSpc>
              <a:spcAft>
                <a:spcPts val="0"/>
              </a:spcAft>
            </a:pPr>
            <a:r>
              <a:rPr sz="950" b="1" i="0" spc="160">
                <a:solidFill>
                  <a:srgbClr val="2F81F7"/>
                </a:solidFill>
                <a:latin typeface="Helvetica Neue"/>
              </a:rPr>
              <a:t>LIVE DEMO · ACT 1</a:t>
            </a:r>
          </a:p>
        </p:txBody>
      </p:sp>
      <p:sp>
        <p:nvSpPr>
          <p:cNvPr id="3" name="TextBox 2"/>
          <p:cNvSpPr txBox="1"/>
          <p:nvPr/>
        </p:nvSpPr>
        <p:spPr>
          <a:xfrm>
            <a:off x="777240" y="658368"/>
            <a:ext cx="10637215" cy="566928"/>
          </a:xfrm>
          <a:prstGeom prst="rect">
            <a:avLst/>
          </a:prstGeom>
          <a:noFill/>
        </p:spPr>
        <p:txBody>
          <a:bodyPr wrap="square" lIns="0" tIns="0" rIns="0" bIns="0" anchor="t">
            <a:spAutoFit/>
          </a:bodyPr>
          <a:lstStyle/>
          <a:p>
            <a:pPr algn="l">
              <a:lnSpc>
                <a:spcPct val="106000"/>
              </a:lnSpc>
              <a:spcAft>
                <a:spcPts val="0"/>
              </a:spcAft>
            </a:pPr>
            <a:r>
              <a:rPr sz="2900" b="1" i="0">
                <a:solidFill>
                  <a:srgbClr val="0F172A"/>
                </a:solidFill>
                <a:latin typeface="Helvetica Neue"/>
              </a:rPr>
              <a:t>The product owns it</a:t>
            </a:r>
          </a:p>
        </p:txBody>
      </p:sp>
      <p:sp>
        <p:nvSpPr>
          <p:cNvPr id="4" name="Rectangle 3"/>
          <p:cNvSpPr/>
          <p:nvPr/>
        </p:nvSpPr>
        <p:spPr>
          <a:xfrm>
            <a:off x="777240" y="1316736"/>
            <a:ext cx="1051560" cy="25400"/>
          </a:xfrm>
          <a:prstGeom prst="rect">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6382512"/>
            <a:ext cx="5486400" cy="201168"/>
          </a:xfrm>
          <a:prstGeom prst="rect">
            <a:avLst/>
          </a:prstGeom>
          <a:noFill/>
        </p:spPr>
        <p:txBody>
          <a:bodyPr wrap="square" lIns="0" tIns="0" rIns="0" bIns="0" anchor="t">
            <a:spAutoFit/>
          </a:bodyPr>
          <a:lstStyle/>
          <a:p>
            <a:pPr algn="l">
              <a:lnSpc>
                <a:spcPct val="128000"/>
              </a:lnSpc>
              <a:spcAft>
                <a:spcPts val="0"/>
              </a:spcAft>
            </a:pPr>
            <a:r>
              <a:rPr sz="850" b="0" i="0">
                <a:solidFill>
                  <a:srgbClr val="94A3B8"/>
                </a:solidFill>
                <a:latin typeface="Helvetica Neue"/>
              </a:rPr>
              <a:t>ASHS · Agentic Self-Healing System</a:t>
            </a:r>
          </a:p>
        </p:txBody>
      </p:sp>
      <p:sp>
        <p:nvSpPr>
          <p:cNvPr id="6" name="TextBox 5"/>
          <p:cNvSpPr txBox="1"/>
          <p:nvPr/>
        </p:nvSpPr>
        <p:spPr>
          <a:xfrm>
            <a:off x="10500055" y="6382512"/>
            <a:ext cx="914400" cy="201168"/>
          </a:xfrm>
          <a:prstGeom prst="rect">
            <a:avLst/>
          </a:prstGeom>
          <a:noFill/>
        </p:spPr>
        <p:txBody>
          <a:bodyPr wrap="square" lIns="0" tIns="0" rIns="0" bIns="0" anchor="t">
            <a:spAutoFit/>
          </a:bodyPr>
          <a:lstStyle/>
          <a:p>
            <a:pPr algn="r">
              <a:lnSpc>
                <a:spcPct val="128000"/>
              </a:lnSpc>
              <a:spcAft>
                <a:spcPts val="0"/>
              </a:spcAft>
            </a:pPr>
            <a:r>
              <a:rPr sz="850" b="0" i="0">
                <a:solidFill>
                  <a:srgbClr val="94A3B8"/>
                </a:solidFill>
                <a:latin typeface="Helvetica Neue"/>
              </a:rPr>
              <a:t>10</a:t>
            </a:r>
          </a:p>
        </p:txBody>
      </p:sp>
      <p:sp>
        <p:nvSpPr>
          <p:cNvPr id="7" name="Rounded Rectangle 6"/>
          <p:cNvSpPr/>
          <p:nvPr/>
        </p:nvSpPr>
        <p:spPr>
          <a:xfrm>
            <a:off x="777240" y="1691640"/>
            <a:ext cx="8503920" cy="897255"/>
          </a:xfrm>
          <a:prstGeom prst="roundRect">
            <a:avLst>
              <a:gd name="adj" fmla="val 6000"/>
            </a:avLst>
          </a:prstGeom>
          <a:solidFill>
            <a:srgbClr val="F6F8FA"/>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874520"/>
            <a:ext cx="8138160" cy="531495"/>
          </a:xfrm>
          <a:prstGeom prst="rect">
            <a:avLst/>
          </a:prstGeom>
          <a:noFill/>
        </p:spPr>
        <p:txBody>
          <a:bodyPr wrap="square" lIns="0" tIns="0" rIns="0" bIns="0" anchor="t">
            <a:spAutoFit/>
          </a:bodyPr>
          <a:lstStyle/>
          <a:p>
            <a:pPr algn="l">
              <a:lnSpc>
                <a:spcPct val="135000"/>
              </a:lnSpc>
              <a:spcAft>
                <a:spcPts val="0"/>
              </a:spcAft>
            </a:pPr>
            <a:r>
              <a:rPr sz="1350" b="0" i="0">
                <a:solidFill>
                  <a:srgbClr val="334155"/>
                </a:solidFill>
                <a:latin typeface="Menlo"/>
              </a:rPr>
              <a:t>calc-api   HTTP 200   total=0        &lt;-  still contract-compliant</a:t>
            </a:r>
          </a:p>
          <a:p>
            <a:pPr algn="l">
              <a:lnSpc>
                <a:spcPct val="135000"/>
              </a:lnSpc>
              <a:spcAft>
                <a:spcPts val="0"/>
              </a:spcAft>
            </a:pPr>
            <a:r>
              <a:rPr sz="1350" b="0" i="0">
                <a:solidFill>
                  <a:srgbClr val="334155"/>
                </a:solidFill>
                <a:latin typeface="Menlo"/>
              </a:rPr>
              <a:t>product    HTTP 500 x 8              &lt;-  same request, through the product</a:t>
            </a:r>
          </a:p>
        </p:txBody>
      </p:sp>
      <p:sp>
        <p:nvSpPr>
          <p:cNvPr id="9" name="Rounded Rectangle 8"/>
          <p:cNvSpPr/>
          <p:nvPr/>
        </p:nvSpPr>
        <p:spPr>
          <a:xfrm>
            <a:off x="777240" y="2958084"/>
            <a:ext cx="68580" cy="68580"/>
          </a:xfrm>
          <a:prstGeom prst="roundRect">
            <a:avLst>
              <a:gd name="adj" fmla="val 50000"/>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408" y="2852928"/>
            <a:ext cx="10222992" cy="274320"/>
          </a:xfrm>
          <a:prstGeom prst="rect">
            <a:avLst/>
          </a:prstGeom>
          <a:noFill/>
        </p:spPr>
        <p:txBody>
          <a:bodyPr wrap="square" lIns="0" tIns="0" rIns="0" bIns="0" anchor="t">
            <a:spAutoFit/>
          </a:bodyPr>
          <a:lstStyle/>
          <a:p>
            <a:pPr algn="l">
              <a:lnSpc>
                <a:spcPct val="128000"/>
              </a:lnSpc>
              <a:spcAft>
                <a:spcPts val="0"/>
              </a:spcAft>
            </a:pPr>
            <a:r>
              <a:rPr sz="1550" b="0" i="0">
                <a:solidFill>
                  <a:srgbClr val="334155"/>
                </a:solidFill>
                <a:latin typeface="Helvetica Neue"/>
              </a:rPr>
              <a:t>Both capabilities are exonerated against their own published schemas.</a:t>
            </a:r>
          </a:p>
        </p:txBody>
      </p:sp>
      <p:sp>
        <p:nvSpPr>
          <p:cNvPr id="11" name="Rounded Rectangle 10"/>
          <p:cNvSpPr/>
          <p:nvPr/>
        </p:nvSpPr>
        <p:spPr>
          <a:xfrm>
            <a:off x="777240" y="3342132"/>
            <a:ext cx="68580" cy="68580"/>
          </a:xfrm>
          <a:prstGeom prst="roundRect">
            <a:avLst>
              <a:gd name="adj" fmla="val 50000"/>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8" y="3236976"/>
            <a:ext cx="10222992" cy="274320"/>
          </a:xfrm>
          <a:prstGeom prst="rect">
            <a:avLst/>
          </a:prstGeom>
          <a:noFill/>
        </p:spPr>
        <p:txBody>
          <a:bodyPr wrap="square" lIns="0" tIns="0" rIns="0" bIns="0" anchor="t">
            <a:spAutoFit/>
          </a:bodyPr>
          <a:lstStyle/>
          <a:p>
            <a:pPr algn="l">
              <a:lnSpc>
                <a:spcPct val="128000"/>
              </a:lnSpc>
              <a:spcAft>
                <a:spcPts val="0"/>
              </a:spcAft>
            </a:pPr>
            <a:r>
              <a:rPr sz="1550" b="0" i="0">
                <a:solidFill>
                  <a:srgbClr val="334155"/>
                </a:solidFill>
                <a:latin typeface="Helvetica Neue"/>
              </a:rPr>
              <a:t>cfc-product scores 0.92 — clears the floor, so it repairs itself.</a:t>
            </a:r>
          </a:p>
        </p:txBody>
      </p:sp>
      <p:sp>
        <p:nvSpPr>
          <p:cNvPr id="13" name="Rounded Rectangle 12"/>
          <p:cNvSpPr/>
          <p:nvPr/>
        </p:nvSpPr>
        <p:spPr>
          <a:xfrm>
            <a:off x="777240" y="3726180"/>
            <a:ext cx="68580" cy="68580"/>
          </a:xfrm>
          <a:prstGeom prst="roundRect">
            <a:avLst>
              <a:gd name="adj" fmla="val 50000"/>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8408" y="3621024"/>
            <a:ext cx="10222992" cy="274320"/>
          </a:xfrm>
          <a:prstGeom prst="rect">
            <a:avLst/>
          </a:prstGeom>
          <a:noFill/>
        </p:spPr>
        <p:txBody>
          <a:bodyPr wrap="square" lIns="0" tIns="0" rIns="0" bIns="0" anchor="t">
            <a:spAutoFit/>
          </a:bodyPr>
          <a:lstStyle/>
          <a:p>
            <a:pPr algn="l">
              <a:lnSpc>
                <a:spcPct val="128000"/>
              </a:lnSpc>
              <a:spcAft>
                <a:spcPts val="0"/>
              </a:spcAft>
            </a:pPr>
            <a:r>
              <a:rPr sz="1550" b="0" i="0">
                <a:solidFill>
                  <a:srgbClr val="334155"/>
                </a:solidFill>
                <a:latin typeface="Helvetica Neue"/>
              </a:rPr>
              <a:t>Test gate: fails before the patch, passes after.</a:t>
            </a:r>
          </a:p>
        </p:txBody>
      </p:sp>
      <p:sp>
        <p:nvSpPr>
          <p:cNvPr id="15" name="Rectangle 14"/>
          <p:cNvSpPr/>
          <p:nvPr/>
        </p:nvSpPr>
        <p:spPr>
          <a:xfrm>
            <a:off x="777240" y="4215384"/>
            <a:ext cx="5120640" cy="603504"/>
          </a:xfrm>
          <a:prstGeom prst="rect">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77240" y="4215384"/>
            <a:ext cx="41148" cy="603504"/>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33271" y="4215384"/>
            <a:ext cx="4663440" cy="603504"/>
          </a:xfrm>
          <a:prstGeom prst="rect">
            <a:avLst/>
          </a:prstGeom>
          <a:noFill/>
        </p:spPr>
        <p:txBody>
          <a:bodyPr wrap="square" lIns="0" tIns="0" rIns="0" bIns="0" anchor="ctr">
            <a:spAutoFit/>
          </a:bodyPr>
          <a:lstStyle/>
          <a:p>
            <a:pPr algn="l">
              <a:lnSpc>
                <a:spcPct val="124000"/>
              </a:lnSpc>
              <a:spcAft>
                <a:spcPts val="0"/>
              </a:spcAft>
            </a:pPr>
            <a:r>
              <a:rPr sz="1700" b="1" i="0">
                <a:solidFill>
                  <a:srgbClr val="0F172A"/>
                </a:solidFill>
                <a:latin typeface="Helvetica Neue"/>
              </a:rPr>
              <a:t>RESOLVED in about 80 seconds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77240" y="420624"/>
            <a:ext cx="10637215" cy="219456"/>
          </a:xfrm>
          <a:prstGeom prst="rect">
            <a:avLst/>
          </a:prstGeom>
          <a:noFill/>
        </p:spPr>
        <p:txBody>
          <a:bodyPr wrap="square" lIns="0" tIns="0" rIns="0" bIns="0" anchor="t">
            <a:spAutoFit/>
          </a:bodyPr>
          <a:lstStyle/>
          <a:p>
            <a:pPr algn="l">
              <a:lnSpc>
                <a:spcPct val="128000"/>
              </a:lnSpc>
              <a:spcAft>
                <a:spcPts val="0"/>
              </a:spcAft>
            </a:pPr>
            <a:r>
              <a:rPr sz="950" b="1" i="0" spc="160">
                <a:solidFill>
                  <a:srgbClr val="2F81F7"/>
                </a:solidFill>
                <a:latin typeface="Helvetica Neue"/>
              </a:rPr>
              <a:t>LIVE DEMO · ACT 2</a:t>
            </a:r>
          </a:p>
        </p:txBody>
      </p:sp>
      <p:sp>
        <p:nvSpPr>
          <p:cNvPr id="3" name="TextBox 2"/>
          <p:cNvSpPr txBox="1"/>
          <p:nvPr/>
        </p:nvSpPr>
        <p:spPr>
          <a:xfrm>
            <a:off x="777240" y="658368"/>
            <a:ext cx="10637215" cy="566928"/>
          </a:xfrm>
          <a:prstGeom prst="rect">
            <a:avLst/>
          </a:prstGeom>
          <a:noFill/>
        </p:spPr>
        <p:txBody>
          <a:bodyPr wrap="square" lIns="0" tIns="0" rIns="0" bIns="0" anchor="t">
            <a:spAutoFit/>
          </a:bodyPr>
          <a:lstStyle/>
          <a:p>
            <a:pPr algn="l">
              <a:lnSpc>
                <a:spcPct val="106000"/>
              </a:lnSpc>
              <a:spcAft>
                <a:spcPts val="0"/>
              </a:spcAft>
            </a:pPr>
            <a:r>
              <a:rPr sz="2900" b="1" i="0">
                <a:solidFill>
                  <a:srgbClr val="0F172A"/>
                </a:solidFill>
                <a:latin typeface="Helvetica Neue"/>
              </a:rPr>
              <a:t>The capability owns it — two hops down</a:t>
            </a:r>
          </a:p>
        </p:txBody>
      </p:sp>
      <p:sp>
        <p:nvSpPr>
          <p:cNvPr id="4" name="Rectangle 3"/>
          <p:cNvSpPr/>
          <p:nvPr/>
        </p:nvSpPr>
        <p:spPr>
          <a:xfrm>
            <a:off x="777240" y="1316736"/>
            <a:ext cx="1051560" cy="25400"/>
          </a:xfrm>
          <a:prstGeom prst="rect">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6382512"/>
            <a:ext cx="5486400" cy="201168"/>
          </a:xfrm>
          <a:prstGeom prst="rect">
            <a:avLst/>
          </a:prstGeom>
          <a:noFill/>
        </p:spPr>
        <p:txBody>
          <a:bodyPr wrap="square" lIns="0" tIns="0" rIns="0" bIns="0" anchor="t">
            <a:spAutoFit/>
          </a:bodyPr>
          <a:lstStyle/>
          <a:p>
            <a:pPr algn="l">
              <a:lnSpc>
                <a:spcPct val="128000"/>
              </a:lnSpc>
              <a:spcAft>
                <a:spcPts val="0"/>
              </a:spcAft>
            </a:pPr>
            <a:r>
              <a:rPr sz="850" b="0" i="0">
                <a:solidFill>
                  <a:srgbClr val="94A3B8"/>
                </a:solidFill>
                <a:latin typeface="Helvetica Neue"/>
              </a:rPr>
              <a:t>ASHS · Agentic Self-Healing System</a:t>
            </a:r>
          </a:p>
        </p:txBody>
      </p:sp>
      <p:sp>
        <p:nvSpPr>
          <p:cNvPr id="6" name="TextBox 5"/>
          <p:cNvSpPr txBox="1"/>
          <p:nvPr/>
        </p:nvSpPr>
        <p:spPr>
          <a:xfrm>
            <a:off x="10500055" y="6382512"/>
            <a:ext cx="914400" cy="201168"/>
          </a:xfrm>
          <a:prstGeom prst="rect">
            <a:avLst/>
          </a:prstGeom>
          <a:noFill/>
        </p:spPr>
        <p:txBody>
          <a:bodyPr wrap="square" lIns="0" tIns="0" rIns="0" bIns="0" anchor="t">
            <a:spAutoFit/>
          </a:bodyPr>
          <a:lstStyle/>
          <a:p>
            <a:pPr algn="r">
              <a:lnSpc>
                <a:spcPct val="128000"/>
              </a:lnSpc>
              <a:spcAft>
                <a:spcPts val="0"/>
              </a:spcAft>
            </a:pPr>
            <a:r>
              <a:rPr sz="850" b="0" i="0">
                <a:solidFill>
                  <a:srgbClr val="94A3B8"/>
                </a:solidFill>
                <a:latin typeface="Helvetica Neue"/>
              </a:rPr>
              <a:t>11</a:t>
            </a:r>
          </a:p>
        </p:txBody>
      </p:sp>
      <p:sp>
        <p:nvSpPr>
          <p:cNvPr id="7" name="Rounded Rectangle 6"/>
          <p:cNvSpPr/>
          <p:nvPr/>
        </p:nvSpPr>
        <p:spPr>
          <a:xfrm>
            <a:off x="777240" y="1645920"/>
            <a:ext cx="8503920" cy="1163002"/>
          </a:xfrm>
          <a:prstGeom prst="roundRect">
            <a:avLst>
              <a:gd name="adj" fmla="val 6000"/>
            </a:avLst>
          </a:prstGeom>
          <a:solidFill>
            <a:srgbClr val="F6F8FA"/>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828800"/>
            <a:ext cx="8138160" cy="797242"/>
          </a:xfrm>
          <a:prstGeom prst="rect">
            <a:avLst/>
          </a:prstGeom>
          <a:noFill/>
        </p:spPr>
        <p:txBody>
          <a:bodyPr wrap="square" lIns="0" tIns="0" rIns="0" bIns="0" anchor="t">
            <a:spAutoFit/>
          </a:bodyPr>
          <a:lstStyle/>
          <a:p>
            <a:pPr algn="l">
              <a:lnSpc>
                <a:spcPct val="135000"/>
              </a:lnSpc>
              <a:spcAft>
                <a:spcPts val="0"/>
              </a:spcAft>
            </a:pPr>
            <a:r>
              <a:rPr sz="1350" b="0" i="0">
                <a:solidFill>
                  <a:srgbClr val="334155"/>
                </a:solidFill>
                <a:latin typeface="Menlo"/>
              </a:rPr>
              <a:t>surfaced in    cfc-product     where it broke</a:t>
            </a:r>
          </a:p>
          <a:p>
            <a:pPr algn="l">
              <a:lnSpc>
                <a:spcPct val="135000"/>
              </a:lnSpc>
              <a:spcAft>
                <a:spcPts val="0"/>
              </a:spcAft>
            </a:pPr>
            <a:r>
              <a:rPr sz="1350" b="0" i="0">
                <a:solidFill>
                  <a:srgbClr val="334155"/>
                </a:solidFill>
                <a:latin typeface="Menlo"/>
              </a:rPr>
              <a:t>fault domain   cap-factors     ROUTED PAST the service that failed</a:t>
            </a:r>
          </a:p>
          <a:p>
            <a:pPr algn="l">
              <a:lnSpc>
                <a:spcPct val="135000"/>
              </a:lnSpc>
              <a:spcAft>
                <a:spcPts val="0"/>
              </a:spcAft>
            </a:pPr>
            <a:r>
              <a:rPr sz="1350" b="0" i="0">
                <a:solidFill>
                  <a:srgbClr val="334155"/>
                </a:solidFill>
                <a:latin typeface="Menlo"/>
              </a:rPr>
              <a:t>confidence     0.88</a:t>
            </a:r>
          </a:p>
        </p:txBody>
      </p:sp>
      <p:sp>
        <p:nvSpPr>
          <p:cNvPr id="9" name="Rounded Rectangle 8"/>
          <p:cNvSpPr/>
          <p:nvPr/>
        </p:nvSpPr>
        <p:spPr>
          <a:xfrm>
            <a:off x="777240" y="3204972"/>
            <a:ext cx="68580" cy="68580"/>
          </a:xfrm>
          <a:prstGeom prst="roundRect">
            <a:avLst>
              <a:gd name="adj" fmla="val 50000"/>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408" y="3099816"/>
            <a:ext cx="10222992" cy="274320"/>
          </a:xfrm>
          <a:prstGeom prst="rect">
            <a:avLst/>
          </a:prstGeom>
          <a:noFill/>
        </p:spPr>
        <p:txBody>
          <a:bodyPr wrap="square" lIns="0" tIns="0" rIns="0" bIns="0" anchor="t">
            <a:spAutoFit/>
          </a:bodyPr>
          <a:lstStyle/>
          <a:p>
            <a:pPr algn="l">
              <a:lnSpc>
                <a:spcPct val="128000"/>
              </a:lnSpc>
              <a:spcAft>
                <a:spcPts val="0"/>
              </a:spcAft>
            </a:pPr>
            <a:r>
              <a:rPr sz="1550" b="0" i="0">
                <a:solidFill>
                  <a:srgbClr val="334155"/>
                </a:solidFill>
                <a:latin typeface="Helvetica Neue"/>
              </a:rPr>
              <a:t>factor-api returns HTTP 200 that violates its own published schema.</a:t>
            </a:r>
          </a:p>
        </p:txBody>
      </p:sp>
      <p:sp>
        <p:nvSpPr>
          <p:cNvPr id="11" name="Rounded Rectangle 10"/>
          <p:cNvSpPr/>
          <p:nvPr/>
        </p:nvSpPr>
        <p:spPr>
          <a:xfrm>
            <a:off x="777240" y="3589020"/>
            <a:ext cx="68580" cy="68580"/>
          </a:xfrm>
          <a:prstGeom prst="roundRect">
            <a:avLst>
              <a:gd name="adj" fmla="val 50000"/>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8" y="3483864"/>
            <a:ext cx="10222992" cy="274320"/>
          </a:xfrm>
          <a:prstGeom prst="rect">
            <a:avLst/>
          </a:prstGeom>
          <a:noFill/>
        </p:spPr>
        <p:txBody>
          <a:bodyPr wrap="square" lIns="0" tIns="0" rIns="0" bIns="0" anchor="t">
            <a:spAutoFit/>
          </a:bodyPr>
          <a:lstStyle/>
          <a:p>
            <a:pPr algn="l">
              <a:lnSpc>
                <a:spcPct val="128000"/>
              </a:lnSpc>
              <a:spcAft>
                <a:spcPts val="0"/>
              </a:spcAft>
            </a:pPr>
            <a:r>
              <a:rPr sz="1550" b="0" i="0">
                <a:solidFill>
                  <a:srgbClr val="334155"/>
                </a:solidFill>
                <a:latin typeface="Helvetica Neue"/>
              </a:rPr>
              <a:t>It never errors. Only contract validation can see this at all.</a:t>
            </a:r>
          </a:p>
        </p:txBody>
      </p:sp>
      <p:sp>
        <p:nvSpPr>
          <p:cNvPr id="13" name="Rounded Rectangle 12"/>
          <p:cNvSpPr/>
          <p:nvPr/>
        </p:nvSpPr>
        <p:spPr>
          <a:xfrm>
            <a:off x="777240" y="3973068"/>
            <a:ext cx="68580" cy="68580"/>
          </a:xfrm>
          <a:prstGeom prst="roundRect">
            <a:avLst>
              <a:gd name="adj" fmla="val 50000"/>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8408" y="3867911"/>
            <a:ext cx="10222992" cy="548640"/>
          </a:xfrm>
          <a:prstGeom prst="rect">
            <a:avLst/>
          </a:prstGeom>
          <a:noFill/>
        </p:spPr>
        <p:txBody>
          <a:bodyPr wrap="square" lIns="0" tIns="0" rIns="0" bIns="0" anchor="t">
            <a:spAutoFit/>
          </a:bodyPr>
          <a:lstStyle/>
          <a:p>
            <a:pPr algn="l">
              <a:lnSpc>
                <a:spcPct val="128000"/>
              </a:lnSpc>
              <a:spcAft>
                <a:spcPts val="0"/>
              </a:spcAft>
            </a:pPr>
            <a:r>
              <a:rPr sz="1550" b="0" i="0">
                <a:solidFill>
                  <a:srgbClr val="334155"/>
                </a:solidFill>
                <a:latin typeface="Helvetica Neue"/>
              </a:rPr>
              <a:t>The capability's own agent patched a different repo, owned by a different team — through the same test gate.</a:t>
            </a:r>
          </a:p>
        </p:txBody>
      </p:sp>
      <p:sp>
        <p:nvSpPr>
          <p:cNvPr id="15" name="Rectangle 14"/>
          <p:cNvSpPr/>
          <p:nvPr/>
        </p:nvSpPr>
        <p:spPr>
          <a:xfrm>
            <a:off x="777240" y="4636008"/>
            <a:ext cx="5120640" cy="603504"/>
          </a:xfrm>
          <a:prstGeom prst="rect">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77240" y="4636008"/>
            <a:ext cx="41148" cy="603504"/>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33271" y="4636008"/>
            <a:ext cx="4663440" cy="603504"/>
          </a:xfrm>
          <a:prstGeom prst="rect">
            <a:avLst/>
          </a:prstGeom>
          <a:noFill/>
        </p:spPr>
        <p:txBody>
          <a:bodyPr wrap="square" lIns="0" tIns="0" rIns="0" bIns="0" anchor="ctr">
            <a:spAutoFit/>
          </a:bodyPr>
          <a:lstStyle/>
          <a:p>
            <a:pPr algn="l">
              <a:lnSpc>
                <a:spcPct val="124000"/>
              </a:lnSpc>
              <a:spcAft>
                <a:spcPts val="0"/>
              </a:spcAft>
            </a:pPr>
            <a:r>
              <a:rPr sz="1700" b="1" i="0">
                <a:solidFill>
                  <a:srgbClr val="0F172A"/>
                </a:solidFill>
                <a:latin typeface="Helvetica Neue"/>
              </a:rPr>
              <a:t>RESOLVED in about 85 seconds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77240" y="420624"/>
            <a:ext cx="10637215" cy="219456"/>
          </a:xfrm>
          <a:prstGeom prst="rect">
            <a:avLst/>
          </a:prstGeom>
          <a:noFill/>
        </p:spPr>
        <p:txBody>
          <a:bodyPr wrap="square" lIns="0" tIns="0" rIns="0" bIns="0" anchor="t">
            <a:spAutoFit/>
          </a:bodyPr>
          <a:lstStyle/>
          <a:p>
            <a:pPr algn="l">
              <a:lnSpc>
                <a:spcPct val="128000"/>
              </a:lnSpc>
              <a:spcAft>
                <a:spcPts val="0"/>
              </a:spcAft>
            </a:pPr>
            <a:r>
              <a:rPr sz="950" b="1" i="0" spc="160">
                <a:solidFill>
                  <a:srgbClr val="2F81F7"/>
                </a:solidFill>
                <a:latin typeface="Helvetica Neue"/>
              </a:rPr>
              <a:t>THE EVIDENCE</a:t>
            </a:r>
          </a:p>
        </p:txBody>
      </p:sp>
      <p:sp>
        <p:nvSpPr>
          <p:cNvPr id="3" name="TextBox 2"/>
          <p:cNvSpPr txBox="1"/>
          <p:nvPr/>
        </p:nvSpPr>
        <p:spPr>
          <a:xfrm>
            <a:off x="777240" y="658368"/>
            <a:ext cx="10637215" cy="566928"/>
          </a:xfrm>
          <a:prstGeom prst="rect">
            <a:avLst/>
          </a:prstGeom>
          <a:noFill/>
        </p:spPr>
        <p:txBody>
          <a:bodyPr wrap="square" lIns="0" tIns="0" rIns="0" bIns="0" anchor="t">
            <a:spAutoFit/>
          </a:bodyPr>
          <a:lstStyle/>
          <a:p>
            <a:pPr algn="l">
              <a:lnSpc>
                <a:spcPct val="106000"/>
              </a:lnSpc>
              <a:spcAft>
                <a:spcPts val="0"/>
              </a:spcAft>
            </a:pPr>
            <a:r>
              <a:rPr sz="2900" b="1" i="0">
                <a:solidFill>
                  <a:srgbClr val="0F172A"/>
                </a:solidFill>
                <a:latin typeface="Helvetica Neue"/>
              </a:rPr>
              <a:t>Nothing on screen that isn't in the audit trail</a:t>
            </a:r>
          </a:p>
        </p:txBody>
      </p:sp>
      <p:sp>
        <p:nvSpPr>
          <p:cNvPr id="4" name="Rectangle 3"/>
          <p:cNvSpPr/>
          <p:nvPr/>
        </p:nvSpPr>
        <p:spPr>
          <a:xfrm>
            <a:off x="777240" y="1316736"/>
            <a:ext cx="1051560" cy="25400"/>
          </a:xfrm>
          <a:prstGeom prst="rect">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6382512"/>
            <a:ext cx="5486400" cy="201168"/>
          </a:xfrm>
          <a:prstGeom prst="rect">
            <a:avLst/>
          </a:prstGeom>
          <a:noFill/>
        </p:spPr>
        <p:txBody>
          <a:bodyPr wrap="square" lIns="0" tIns="0" rIns="0" bIns="0" anchor="t">
            <a:spAutoFit/>
          </a:bodyPr>
          <a:lstStyle/>
          <a:p>
            <a:pPr algn="l">
              <a:lnSpc>
                <a:spcPct val="128000"/>
              </a:lnSpc>
              <a:spcAft>
                <a:spcPts val="0"/>
              </a:spcAft>
            </a:pPr>
            <a:r>
              <a:rPr sz="850" b="0" i="0">
                <a:solidFill>
                  <a:srgbClr val="94A3B8"/>
                </a:solidFill>
                <a:latin typeface="Helvetica Neue"/>
              </a:rPr>
              <a:t>ASHS · Agentic Self-Healing System</a:t>
            </a:r>
          </a:p>
        </p:txBody>
      </p:sp>
      <p:sp>
        <p:nvSpPr>
          <p:cNvPr id="6" name="TextBox 5"/>
          <p:cNvSpPr txBox="1"/>
          <p:nvPr/>
        </p:nvSpPr>
        <p:spPr>
          <a:xfrm>
            <a:off x="10500055" y="6382512"/>
            <a:ext cx="914400" cy="201168"/>
          </a:xfrm>
          <a:prstGeom prst="rect">
            <a:avLst/>
          </a:prstGeom>
          <a:noFill/>
        </p:spPr>
        <p:txBody>
          <a:bodyPr wrap="square" lIns="0" tIns="0" rIns="0" bIns="0" anchor="t">
            <a:spAutoFit/>
          </a:bodyPr>
          <a:lstStyle/>
          <a:p>
            <a:pPr algn="r">
              <a:lnSpc>
                <a:spcPct val="128000"/>
              </a:lnSpc>
              <a:spcAft>
                <a:spcPts val="0"/>
              </a:spcAft>
            </a:pPr>
            <a:r>
              <a:rPr sz="850" b="0" i="0">
                <a:solidFill>
                  <a:srgbClr val="94A3B8"/>
                </a:solidFill>
                <a:latin typeface="Helvetica Neue"/>
              </a:rPr>
              <a:t>12</a:t>
            </a:r>
          </a:p>
        </p:txBody>
      </p:sp>
      <p:pic>
        <p:nvPicPr>
          <p:cNvPr id="7" name="Picture 6" descr="Dashboard.png"/>
          <p:cNvPicPr>
            <a:picLocks noChangeAspect="1"/>
          </p:cNvPicPr>
          <p:nvPr/>
        </p:nvPicPr>
        <p:blipFill>
          <a:blip r:embed="rId3"/>
          <a:stretch>
            <a:fillRect/>
          </a:stretch>
        </p:blipFill>
        <p:spPr>
          <a:xfrm>
            <a:off x="2080647" y="1572768"/>
            <a:ext cx="8000225" cy="4069080"/>
          </a:xfrm>
          <a:prstGeom prst="rect">
            <a:avLst/>
          </a:prstGeom>
        </p:spPr>
      </p:pic>
      <p:sp>
        <p:nvSpPr>
          <p:cNvPr id="8" name="TextBox 7"/>
          <p:cNvSpPr txBox="1"/>
          <p:nvPr/>
        </p:nvSpPr>
        <p:spPr>
          <a:xfrm>
            <a:off x="777240" y="5897880"/>
            <a:ext cx="10637215" cy="457200"/>
          </a:xfrm>
          <a:prstGeom prst="rect">
            <a:avLst/>
          </a:prstGeom>
          <a:noFill/>
        </p:spPr>
        <p:txBody>
          <a:bodyPr wrap="square" lIns="0" tIns="0" rIns="0" bIns="0" anchor="t">
            <a:spAutoFit/>
          </a:bodyPr>
          <a:lstStyle/>
          <a:p>
            <a:pPr algn="ctr">
              <a:lnSpc>
                <a:spcPct val="128000"/>
              </a:lnSpc>
              <a:spcAft>
                <a:spcPts val="0"/>
              </a:spcAft>
            </a:pPr>
            <a:r>
              <a:rPr sz="1250" b="0" i="0">
                <a:solidFill>
                  <a:srgbClr val="64748B"/>
                </a:solidFill>
                <a:latin typeface="Helvetica Neue"/>
              </a:rPr>
              <a:t>Incidents and their state  ·  the decision feed grouped by phase  ·  the actual diff  ·  both test-gate runs  ·  who was exonerated and why  ·  the escalation queue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77240" y="420624"/>
            <a:ext cx="10637215" cy="219456"/>
          </a:xfrm>
          <a:prstGeom prst="rect">
            <a:avLst/>
          </a:prstGeom>
          <a:noFill/>
        </p:spPr>
        <p:txBody>
          <a:bodyPr wrap="square" lIns="0" tIns="0" rIns="0" bIns="0" anchor="t">
            <a:spAutoFit/>
          </a:bodyPr>
          <a:lstStyle/>
          <a:p>
            <a:pPr algn="l">
              <a:lnSpc>
                <a:spcPct val="128000"/>
              </a:lnSpc>
              <a:spcAft>
                <a:spcPts val="0"/>
              </a:spcAft>
            </a:pPr>
            <a:r>
              <a:rPr sz="950" b="1" i="0" spc="160">
                <a:solidFill>
                  <a:srgbClr val="2F81F7"/>
                </a:solidFill>
                <a:latin typeface="Helvetica Neue"/>
              </a:rPr>
              <a:t>THE VALUE</a:t>
            </a:r>
          </a:p>
        </p:txBody>
      </p:sp>
      <p:sp>
        <p:nvSpPr>
          <p:cNvPr id="3" name="TextBox 2"/>
          <p:cNvSpPr txBox="1"/>
          <p:nvPr/>
        </p:nvSpPr>
        <p:spPr>
          <a:xfrm>
            <a:off x="777240" y="658368"/>
            <a:ext cx="10637215" cy="566928"/>
          </a:xfrm>
          <a:prstGeom prst="rect">
            <a:avLst/>
          </a:prstGeom>
          <a:noFill/>
        </p:spPr>
        <p:txBody>
          <a:bodyPr wrap="square" lIns="0" tIns="0" rIns="0" bIns="0" anchor="t">
            <a:spAutoFit/>
          </a:bodyPr>
          <a:lstStyle/>
          <a:p>
            <a:pPr algn="l">
              <a:lnSpc>
                <a:spcPct val="106000"/>
              </a:lnSpc>
              <a:spcAft>
                <a:spcPts val="0"/>
              </a:spcAft>
            </a:pPr>
            <a:r>
              <a:rPr sz="2900" b="1" i="0">
                <a:solidFill>
                  <a:srgbClr val="0F172A"/>
                </a:solidFill>
                <a:latin typeface="Helvetica Neue"/>
              </a:rPr>
              <a:t>Where the time goes</a:t>
            </a:r>
          </a:p>
        </p:txBody>
      </p:sp>
      <p:sp>
        <p:nvSpPr>
          <p:cNvPr id="4" name="Rectangle 3"/>
          <p:cNvSpPr/>
          <p:nvPr/>
        </p:nvSpPr>
        <p:spPr>
          <a:xfrm>
            <a:off x="777240" y="1316736"/>
            <a:ext cx="1051560" cy="25400"/>
          </a:xfrm>
          <a:prstGeom prst="rect">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6382512"/>
            <a:ext cx="5486400" cy="201168"/>
          </a:xfrm>
          <a:prstGeom prst="rect">
            <a:avLst/>
          </a:prstGeom>
          <a:noFill/>
        </p:spPr>
        <p:txBody>
          <a:bodyPr wrap="square" lIns="0" tIns="0" rIns="0" bIns="0" anchor="t">
            <a:spAutoFit/>
          </a:bodyPr>
          <a:lstStyle/>
          <a:p>
            <a:pPr algn="l">
              <a:lnSpc>
                <a:spcPct val="128000"/>
              </a:lnSpc>
              <a:spcAft>
                <a:spcPts val="0"/>
              </a:spcAft>
            </a:pPr>
            <a:r>
              <a:rPr sz="850" b="0" i="0">
                <a:solidFill>
                  <a:srgbClr val="94A3B8"/>
                </a:solidFill>
                <a:latin typeface="Helvetica Neue"/>
              </a:rPr>
              <a:t>ASHS · Agentic Self-Healing System</a:t>
            </a:r>
          </a:p>
        </p:txBody>
      </p:sp>
      <p:sp>
        <p:nvSpPr>
          <p:cNvPr id="6" name="TextBox 5"/>
          <p:cNvSpPr txBox="1"/>
          <p:nvPr/>
        </p:nvSpPr>
        <p:spPr>
          <a:xfrm>
            <a:off x="10500055" y="6382512"/>
            <a:ext cx="914400" cy="201168"/>
          </a:xfrm>
          <a:prstGeom prst="rect">
            <a:avLst/>
          </a:prstGeom>
          <a:noFill/>
        </p:spPr>
        <p:txBody>
          <a:bodyPr wrap="square" lIns="0" tIns="0" rIns="0" bIns="0" anchor="t">
            <a:spAutoFit/>
          </a:bodyPr>
          <a:lstStyle/>
          <a:p>
            <a:pPr algn="r">
              <a:lnSpc>
                <a:spcPct val="128000"/>
              </a:lnSpc>
              <a:spcAft>
                <a:spcPts val="0"/>
              </a:spcAft>
            </a:pPr>
            <a:r>
              <a:rPr sz="850" b="0" i="0">
                <a:solidFill>
                  <a:srgbClr val="94A3B8"/>
                </a:solidFill>
                <a:latin typeface="Helvetica Neue"/>
              </a:rPr>
              <a:t>13</a:t>
            </a:r>
          </a:p>
        </p:txBody>
      </p:sp>
      <p:sp>
        <p:nvSpPr>
          <p:cNvPr id="7" name="TextBox 6"/>
          <p:cNvSpPr txBox="1"/>
          <p:nvPr/>
        </p:nvSpPr>
        <p:spPr>
          <a:xfrm>
            <a:off x="777240" y="1691640"/>
            <a:ext cx="2468880" cy="237744"/>
          </a:xfrm>
          <a:prstGeom prst="rect">
            <a:avLst/>
          </a:prstGeom>
          <a:noFill/>
        </p:spPr>
        <p:txBody>
          <a:bodyPr wrap="square" lIns="0" tIns="0" rIns="0" bIns="0" anchor="t">
            <a:spAutoFit/>
          </a:bodyPr>
          <a:lstStyle/>
          <a:p>
            <a:pPr algn="l">
              <a:lnSpc>
                <a:spcPct val="128000"/>
              </a:lnSpc>
              <a:spcAft>
                <a:spcPts val="0"/>
              </a:spcAft>
            </a:pPr>
            <a:endParaRPr/>
          </a:p>
        </p:txBody>
      </p:sp>
      <p:sp>
        <p:nvSpPr>
          <p:cNvPr id="8" name="TextBox 7"/>
          <p:cNvSpPr txBox="1"/>
          <p:nvPr/>
        </p:nvSpPr>
        <p:spPr>
          <a:xfrm>
            <a:off x="3246120" y="1691640"/>
            <a:ext cx="4023360"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Today</a:t>
            </a:r>
          </a:p>
        </p:txBody>
      </p:sp>
      <p:sp>
        <p:nvSpPr>
          <p:cNvPr id="9" name="TextBox 8"/>
          <p:cNvSpPr txBox="1"/>
          <p:nvPr/>
        </p:nvSpPr>
        <p:spPr>
          <a:xfrm>
            <a:off x="7269480" y="1691640"/>
            <a:ext cx="4297680"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With ASHS</a:t>
            </a:r>
          </a:p>
        </p:txBody>
      </p:sp>
      <p:sp>
        <p:nvSpPr>
          <p:cNvPr id="10" name="Rectangle 9"/>
          <p:cNvSpPr/>
          <p:nvPr/>
        </p:nvSpPr>
        <p:spPr>
          <a:xfrm>
            <a:off x="777240" y="1984248"/>
            <a:ext cx="107899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112264"/>
            <a:ext cx="232257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Detect</a:t>
            </a:r>
          </a:p>
        </p:txBody>
      </p:sp>
      <p:sp>
        <p:nvSpPr>
          <p:cNvPr id="12" name="TextBox 11"/>
          <p:cNvSpPr txBox="1"/>
          <p:nvPr/>
        </p:nvSpPr>
        <p:spPr>
          <a:xfrm>
            <a:off x="3246120" y="2112264"/>
            <a:ext cx="387705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Minutes to hours</a:t>
            </a:r>
          </a:p>
        </p:txBody>
      </p:sp>
      <p:sp>
        <p:nvSpPr>
          <p:cNvPr id="13" name="TextBox 12"/>
          <p:cNvSpPr txBox="1"/>
          <p:nvPr/>
        </p:nvSpPr>
        <p:spPr>
          <a:xfrm>
            <a:off x="7269480" y="2112264"/>
            <a:ext cx="415137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A sweep every 10 seconds</a:t>
            </a:r>
          </a:p>
        </p:txBody>
      </p:sp>
      <p:sp>
        <p:nvSpPr>
          <p:cNvPr id="14" name="Rectangle 13"/>
          <p:cNvSpPr/>
          <p:nvPr/>
        </p:nvSpPr>
        <p:spPr>
          <a:xfrm>
            <a:off x="667512" y="2468880"/>
            <a:ext cx="11009376" cy="402336"/>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2532888"/>
            <a:ext cx="232257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Attribute</a:t>
            </a:r>
          </a:p>
        </p:txBody>
      </p:sp>
      <p:sp>
        <p:nvSpPr>
          <p:cNvPr id="16" name="TextBox 15"/>
          <p:cNvSpPr txBox="1"/>
          <p:nvPr/>
        </p:nvSpPr>
        <p:spPr>
          <a:xfrm>
            <a:off x="3246120" y="2532888"/>
            <a:ext cx="3877056" cy="256032"/>
          </a:xfrm>
          <a:prstGeom prst="rect">
            <a:avLst/>
          </a:prstGeom>
          <a:noFill/>
        </p:spPr>
        <p:txBody>
          <a:bodyPr wrap="square" lIns="0" tIns="0" rIns="0" bIns="0" anchor="t">
            <a:spAutoFit/>
          </a:bodyPr>
          <a:lstStyle/>
          <a:p>
            <a:pPr algn="l">
              <a:lnSpc>
                <a:spcPct val="118000"/>
              </a:lnSpc>
              <a:spcAft>
                <a:spcPts val="0"/>
              </a:spcAft>
            </a:pPr>
            <a:r>
              <a:rPr sz="1300" b="1" i="0">
                <a:solidFill>
                  <a:srgbClr val="B91C1C"/>
                </a:solidFill>
                <a:latin typeface="Helvetica Neue"/>
              </a:rPr>
              <a:t>Hours to days, three teams</a:t>
            </a:r>
          </a:p>
        </p:txBody>
      </p:sp>
      <p:sp>
        <p:nvSpPr>
          <p:cNvPr id="17" name="TextBox 16"/>
          <p:cNvSpPr txBox="1"/>
          <p:nvPr/>
        </p:nvSpPr>
        <p:spPr>
          <a:xfrm>
            <a:off x="7269480" y="2532888"/>
            <a:ext cx="4151376" cy="256032"/>
          </a:xfrm>
          <a:prstGeom prst="rect">
            <a:avLst/>
          </a:prstGeom>
          <a:noFill/>
        </p:spPr>
        <p:txBody>
          <a:bodyPr wrap="square" lIns="0" tIns="0" rIns="0" bIns="0" anchor="t">
            <a:spAutoFit/>
          </a:bodyPr>
          <a:lstStyle/>
          <a:p>
            <a:pPr algn="l">
              <a:lnSpc>
                <a:spcPct val="118000"/>
              </a:lnSpc>
              <a:spcAft>
                <a:spcPts val="0"/>
              </a:spcAft>
            </a:pPr>
            <a:r>
              <a:rPr sz="1300" b="1" i="0">
                <a:solidFill>
                  <a:srgbClr val="15803D"/>
                </a:solidFill>
                <a:latin typeface="Helvetica Neue"/>
              </a:rPr>
              <a:t>Seconds, deterministic, with evidence</a:t>
            </a:r>
          </a:p>
        </p:txBody>
      </p:sp>
      <p:sp>
        <p:nvSpPr>
          <p:cNvPr id="18" name="TextBox 17"/>
          <p:cNvSpPr txBox="1"/>
          <p:nvPr/>
        </p:nvSpPr>
        <p:spPr>
          <a:xfrm>
            <a:off x="777240" y="2953512"/>
            <a:ext cx="232257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Route to the owner</a:t>
            </a:r>
          </a:p>
        </p:txBody>
      </p:sp>
      <p:sp>
        <p:nvSpPr>
          <p:cNvPr id="19" name="TextBox 18"/>
          <p:cNvSpPr txBox="1"/>
          <p:nvPr/>
        </p:nvSpPr>
        <p:spPr>
          <a:xfrm>
            <a:off x="3246120" y="2953512"/>
            <a:ext cx="387705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Manual, and political</a:t>
            </a:r>
          </a:p>
        </p:txBody>
      </p:sp>
      <p:sp>
        <p:nvSpPr>
          <p:cNvPr id="20" name="TextBox 19"/>
          <p:cNvSpPr txBox="1"/>
          <p:nvPr/>
        </p:nvSpPr>
        <p:spPr>
          <a:xfrm>
            <a:off x="7269480" y="2953512"/>
            <a:ext cx="415137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Automatic, from the catalog</a:t>
            </a:r>
          </a:p>
        </p:txBody>
      </p:sp>
      <p:sp>
        <p:nvSpPr>
          <p:cNvPr id="21" name="Rectangle 20"/>
          <p:cNvSpPr/>
          <p:nvPr/>
        </p:nvSpPr>
        <p:spPr>
          <a:xfrm>
            <a:off x="667512" y="3310128"/>
            <a:ext cx="11009376" cy="402336"/>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 y="3374136"/>
            <a:ext cx="232257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Fix</a:t>
            </a:r>
          </a:p>
        </p:txBody>
      </p:sp>
      <p:sp>
        <p:nvSpPr>
          <p:cNvPr id="23" name="TextBox 22"/>
          <p:cNvSpPr txBox="1"/>
          <p:nvPr/>
        </p:nvSpPr>
        <p:spPr>
          <a:xfrm>
            <a:off x="3246120" y="3374136"/>
            <a:ext cx="387705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Minutes</a:t>
            </a:r>
          </a:p>
        </p:txBody>
      </p:sp>
      <p:sp>
        <p:nvSpPr>
          <p:cNvPr id="24" name="TextBox 23"/>
          <p:cNvSpPr txBox="1"/>
          <p:nvPr/>
        </p:nvSpPr>
        <p:spPr>
          <a:xfrm>
            <a:off x="7269480" y="3374136"/>
            <a:ext cx="415137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~80s, or a draft awaiting approval</a:t>
            </a:r>
          </a:p>
        </p:txBody>
      </p:sp>
      <p:sp>
        <p:nvSpPr>
          <p:cNvPr id="25" name="TextBox 24"/>
          <p:cNvSpPr txBox="1"/>
          <p:nvPr/>
        </p:nvSpPr>
        <p:spPr>
          <a:xfrm>
            <a:off x="777240" y="3794760"/>
            <a:ext cx="232257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Prove it worked</a:t>
            </a:r>
          </a:p>
        </p:txBody>
      </p:sp>
      <p:sp>
        <p:nvSpPr>
          <p:cNvPr id="26" name="TextBox 25"/>
          <p:cNvSpPr txBox="1"/>
          <p:nvPr/>
        </p:nvSpPr>
        <p:spPr>
          <a:xfrm>
            <a:off x="3246120" y="3794760"/>
            <a:ext cx="387705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Often skipped</a:t>
            </a:r>
          </a:p>
        </p:txBody>
      </p:sp>
      <p:sp>
        <p:nvSpPr>
          <p:cNvPr id="27" name="TextBox 26"/>
          <p:cNvSpPr txBox="1"/>
          <p:nvPr/>
        </p:nvSpPr>
        <p:spPr>
          <a:xfrm>
            <a:off x="7269480" y="3794760"/>
            <a:ext cx="415137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Mandatory, or it does not merge</a:t>
            </a:r>
          </a:p>
        </p:txBody>
      </p:sp>
      <p:sp>
        <p:nvSpPr>
          <p:cNvPr id="28" name="TextBox 27"/>
          <p:cNvSpPr txBox="1"/>
          <p:nvPr/>
        </p:nvSpPr>
        <p:spPr>
          <a:xfrm>
            <a:off x="777240" y="4471416"/>
            <a:ext cx="10637215" cy="274320"/>
          </a:xfrm>
          <a:prstGeom prst="rect">
            <a:avLst/>
          </a:prstGeom>
          <a:noFill/>
        </p:spPr>
        <p:txBody>
          <a:bodyPr wrap="square" lIns="0" tIns="0" rIns="0" bIns="0" anchor="t">
            <a:spAutoFit/>
          </a:bodyPr>
          <a:lstStyle/>
          <a:p>
            <a:pPr algn="l">
              <a:lnSpc>
                <a:spcPct val="128000"/>
              </a:lnSpc>
              <a:spcAft>
                <a:spcPts val="0"/>
              </a:spcAft>
            </a:pPr>
            <a:r>
              <a:rPr sz="1700" b="1" i="0">
                <a:solidFill>
                  <a:srgbClr val="0F172A"/>
                </a:solidFill>
                <a:latin typeface="Helvetica Neue"/>
              </a:rPr>
              <a:t>The second-order value matters more</a:t>
            </a:r>
          </a:p>
        </p:txBody>
      </p:sp>
      <p:sp>
        <p:nvSpPr>
          <p:cNvPr id="29" name="Rounded Rectangle 28"/>
          <p:cNvSpPr/>
          <p:nvPr/>
        </p:nvSpPr>
        <p:spPr>
          <a:xfrm>
            <a:off x="777240" y="4951476"/>
            <a:ext cx="68580" cy="68580"/>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78408" y="4846320"/>
            <a:ext cx="10222992" cy="548640"/>
          </a:xfrm>
          <a:prstGeom prst="rect">
            <a:avLst/>
          </a:prstGeom>
          <a:noFill/>
        </p:spPr>
        <p:txBody>
          <a:bodyPr wrap="square" lIns="0" tIns="0" rIns="0" bIns="0" anchor="t">
            <a:spAutoFit/>
          </a:bodyPr>
          <a:lstStyle/>
          <a:p>
            <a:pPr algn="l">
              <a:lnSpc>
                <a:spcPct val="128000"/>
              </a:lnSpc>
              <a:spcAft>
                <a:spcPts val="0"/>
              </a:spcAft>
            </a:pPr>
            <a:r>
              <a:rPr sz="1450" b="0" i="0">
                <a:solidFill>
                  <a:srgbClr val="334155"/>
                </a:solidFill>
                <a:latin typeface="Helvetica Neue"/>
              </a:rPr>
              <a:t>The argument moves from opinion to evidence. "Your service returned this payload; here is your published schema." That ends the call.</a:t>
            </a:r>
          </a:p>
        </p:txBody>
      </p:sp>
      <p:sp>
        <p:nvSpPr>
          <p:cNvPr id="31" name="Rounded Rectangle 30"/>
          <p:cNvSpPr/>
          <p:nvPr/>
        </p:nvSpPr>
        <p:spPr>
          <a:xfrm>
            <a:off x="777240" y="5554980"/>
            <a:ext cx="68580" cy="68580"/>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78408" y="5449824"/>
            <a:ext cx="10222992" cy="274320"/>
          </a:xfrm>
          <a:prstGeom prst="rect">
            <a:avLst/>
          </a:prstGeom>
          <a:noFill/>
        </p:spPr>
        <p:txBody>
          <a:bodyPr wrap="square" lIns="0" tIns="0" rIns="0" bIns="0" anchor="t">
            <a:spAutoFit/>
          </a:bodyPr>
          <a:lstStyle/>
          <a:p>
            <a:pPr algn="l">
              <a:lnSpc>
                <a:spcPct val="128000"/>
              </a:lnSpc>
              <a:spcAft>
                <a:spcPts val="0"/>
              </a:spcAft>
            </a:pPr>
            <a:r>
              <a:rPr sz="1450" b="0" i="0">
                <a:solidFill>
                  <a:srgbClr val="334155"/>
                </a:solidFill>
                <a:latin typeface="Helvetica Neue"/>
              </a:rPr>
              <a:t>Exoneration is worth as much as blame — two teams get their morning back.</a:t>
            </a:r>
          </a:p>
        </p:txBody>
      </p:sp>
      <p:sp>
        <p:nvSpPr>
          <p:cNvPr id="33" name="Rounded Rectangle 32"/>
          <p:cNvSpPr/>
          <p:nvPr/>
        </p:nvSpPr>
        <p:spPr>
          <a:xfrm>
            <a:off x="777240" y="5939028"/>
            <a:ext cx="68580" cy="68580"/>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78408" y="5833872"/>
            <a:ext cx="10222992" cy="274320"/>
          </a:xfrm>
          <a:prstGeom prst="rect">
            <a:avLst/>
          </a:prstGeom>
          <a:noFill/>
        </p:spPr>
        <p:txBody>
          <a:bodyPr wrap="square" lIns="0" tIns="0" rIns="0" bIns="0" anchor="t">
            <a:spAutoFit/>
          </a:bodyPr>
          <a:lstStyle/>
          <a:p>
            <a:pPr algn="l">
              <a:lnSpc>
                <a:spcPct val="128000"/>
              </a:lnSpc>
              <a:spcAft>
                <a:spcPts val="0"/>
              </a:spcAft>
            </a:pPr>
            <a:r>
              <a:rPr sz="1450" b="0" i="0">
                <a:solidFill>
                  <a:srgbClr val="334155"/>
                </a:solidFill>
                <a:latin typeface="Helvetica Neue"/>
              </a:rPr>
              <a:t>Every incident leaves a reviewable artifact, whether it repaired or refused.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77240" y="420624"/>
            <a:ext cx="10637215" cy="219456"/>
          </a:xfrm>
          <a:prstGeom prst="rect">
            <a:avLst/>
          </a:prstGeom>
          <a:noFill/>
        </p:spPr>
        <p:txBody>
          <a:bodyPr wrap="square" lIns="0" tIns="0" rIns="0" bIns="0" anchor="t">
            <a:spAutoFit/>
          </a:bodyPr>
          <a:lstStyle/>
          <a:p>
            <a:pPr algn="l">
              <a:lnSpc>
                <a:spcPct val="128000"/>
              </a:lnSpc>
              <a:spcAft>
                <a:spcPts val="0"/>
              </a:spcAft>
            </a:pPr>
            <a:r>
              <a:rPr sz="950" b="1" i="0" spc="160">
                <a:solidFill>
                  <a:srgbClr val="2F81F7"/>
                </a:solidFill>
                <a:latin typeface="Helvetica Neue"/>
              </a:rPr>
              <a:t>THE RISKS</a:t>
            </a:r>
          </a:p>
        </p:txBody>
      </p:sp>
      <p:sp>
        <p:nvSpPr>
          <p:cNvPr id="3" name="TextBox 2"/>
          <p:cNvSpPr txBox="1"/>
          <p:nvPr/>
        </p:nvSpPr>
        <p:spPr>
          <a:xfrm>
            <a:off x="777240" y="658368"/>
            <a:ext cx="10637215" cy="566928"/>
          </a:xfrm>
          <a:prstGeom prst="rect">
            <a:avLst/>
          </a:prstGeom>
          <a:noFill/>
        </p:spPr>
        <p:txBody>
          <a:bodyPr wrap="square" lIns="0" tIns="0" rIns="0" bIns="0" anchor="t">
            <a:spAutoFit/>
          </a:bodyPr>
          <a:lstStyle/>
          <a:p>
            <a:pPr algn="l">
              <a:lnSpc>
                <a:spcPct val="106000"/>
              </a:lnSpc>
              <a:spcAft>
                <a:spcPts val="0"/>
              </a:spcAft>
            </a:pPr>
            <a:r>
              <a:rPr sz="2900" b="1" i="0">
                <a:solidFill>
                  <a:srgbClr val="0F172A"/>
                </a:solidFill>
                <a:latin typeface="Helvetica Neue"/>
              </a:rPr>
              <a:t>What can go wrong, and what catches it</a:t>
            </a:r>
          </a:p>
        </p:txBody>
      </p:sp>
      <p:sp>
        <p:nvSpPr>
          <p:cNvPr id="4" name="Rectangle 3"/>
          <p:cNvSpPr/>
          <p:nvPr/>
        </p:nvSpPr>
        <p:spPr>
          <a:xfrm>
            <a:off x="777240" y="1316736"/>
            <a:ext cx="1051560" cy="25400"/>
          </a:xfrm>
          <a:prstGeom prst="rect">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6382512"/>
            <a:ext cx="5486400" cy="201168"/>
          </a:xfrm>
          <a:prstGeom prst="rect">
            <a:avLst/>
          </a:prstGeom>
          <a:noFill/>
        </p:spPr>
        <p:txBody>
          <a:bodyPr wrap="square" lIns="0" tIns="0" rIns="0" bIns="0" anchor="t">
            <a:spAutoFit/>
          </a:bodyPr>
          <a:lstStyle/>
          <a:p>
            <a:pPr algn="l">
              <a:lnSpc>
                <a:spcPct val="128000"/>
              </a:lnSpc>
              <a:spcAft>
                <a:spcPts val="0"/>
              </a:spcAft>
            </a:pPr>
            <a:r>
              <a:rPr sz="850" b="0" i="0">
                <a:solidFill>
                  <a:srgbClr val="94A3B8"/>
                </a:solidFill>
                <a:latin typeface="Helvetica Neue"/>
              </a:rPr>
              <a:t>ASHS · Agentic Self-Healing System</a:t>
            </a:r>
          </a:p>
        </p:txBody>
      </p:sp>
      <p:sp>
        <p:nvSpPr>
          <p:cNvPr id="6" name="TextBox 5"/>
          <p:cNvSpPr txBox="1"/>
          <p:nvPr/>
        </p:nvSpPr>
        <p:spPr>
          <a:xfrm>
            <a:off x="10500055" y="6382512"/>
            <a:ext cx="914400" cy="201168"/>
          </a:xfrm>
          <a:prstGeom prst="rect">
            <a:avLst/>
          </a:prstGeom>
          <a:noFill/>
        </p:spPr>
        <p:txBody>
          <a:bodyPr wrap="square" lIns="0" tIns="0" rIns="0" bIns="0" anchor="t">
            <a:spAutoFit/>
          </a:bodyPr>
          <a:lstStyle/>
          <a:p>
            <a:pPr algn="r">
              <a:lnSpc>
                <a:spcPct val="128000"/>
              </a:lnSpc>
              <a:spcAft>
                <a:spcPts val="0"/>
              </a:spcAft>
            </a:pPr>
            <a:r>
              <a:rPr sz="850" b="0" i="0">
                <a:solidFill>
                  <a:srgbClr val="94A3B8"/>
                </a:solidFill>
                <a:latin typeface="Helvetica Neue"/>
              </a:rPr>
              <a:t>14</a:t>
            </a:r>
          </a:p>
        </p:txBody>
      </p:sp>
      <p:sp>
        <p:nvSpPr>
          <p:cNvPr id="7" name="TextBox 6"/>
          <p:cNvSpPr txBox="1"/>
          <p:nvPr/>
        </p:nvSpPr>
        <p:spPr>
          <a:xfrm>
            <a:off x="777240" y="1645920"/>
            <a:ext cx="3657600"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Risk</a:t>
            </a:r>
          </a:p>
        </p:txBody>
      </p:sp>
      <p:sp>
        <p:nvSpPr>
          <p:cNvPr id="8" name="TextBox 7"/>
          <p:cNvSpPr txBox="1"/>
          <p:nvPr/>
        </p:nvSpPr>
        <p:spPr>
          <a:xfrm>
            <a:off x="4434840" y="1645920"/>
            <a:ext cx="4114800"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What catches it today</a:t>
            </a:r>
          </a:p>
        </p:txBody>
      </p:sp>
      <p:sp>
        <p:nvSpPr>
          <p:cNvPr id="9" name="TextBox 8"/>
          <p:cNvSpPr txBox="1"/>
          <p:nvPr/>
        </p:nvSpPr>
        <p:spPr>
          <a:xfrm>
            <a:off x="8549640" y="1645920"/>
            <a:ext cx="2834640"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Residual</a:t>
            </a:r>
          </a:p>
        </p:txBody>
      </p:sp>
      <p:sp>
        <p:nvSpPr>
          <p:cNvPr id="10" name="Rectangle 9"/>
          <p:cNvSpPr/>
          <p:nvPr/>
        </p:nvSpPr>
        <p:spPr>
          <a:xfrm>
            <a:off x="777240" y="1938528"/>
            <a:ext cx="1060704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066544"/>
            <a:ext cx="351129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Wrong attribution</a:t>
            </a:r>
          </a:p>
        </p:txBody>
      </p:sp>
      <p:sp>
        <p:nvSpPr>
          <p:cNvPr id="12" name="TextBox 11"/>
          <p:cNvSpPr txBox="1"/>
          <p:nvPr/>
        </p:nvSpPr>
        <p:spPr>
          <a:xfrm>
            <a:off x="4434840" y="2066544"/>
            <a:ext cx="396849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Deterministic signals; escalates below 0.60</a:t>
            </a:r>
          </a:p>
        </p:txBody>
      </p:sp>
      <p:sp>
        <p:nvSpPr>
          <p:cNvPr id="13" name="TextBox 12"/>
          <p:cNvSpPr txBox="1"/>
          <p:nvPr/>
        </p:nvSpPr>
        <p:spPr>
          <a:xfrm>
            <a:off x="8549640" y="2066544"/>
            <a:ext cx="268833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Real if telemetry is poor</a:t>
            </a:r>
          </a:p>
        </p:txBody>
      </p:sp>
      <p:sp>
        <p:nvSpPr>
          <p:cNvPr id="14" name="Rectangle 13"/>
          <p:cNvSpPr/>
          <p:nvPr/>
        </p:nvSpPr>
        <p:spPr>
          <a:xfrm>
            <a:off x="667512" y="2459736"/>
            <a:ext cx="10826496" cy="438912"/>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2523744"/>
            <a:ext cx="351129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A bad patch merged</a:t>
            </a:r>
          </a:p>
        </p:txBody>
      </p:sp>
      <p:sp>
        <p:nvSpPr>
          <p:cNvPr id="16" name="TextBox 15"/>
          <p:cNvSpPr txBox="1"/>
          <p:nvPr/>
        </p:nvSpPr>
        <p:spPr>
          <a:xfrm>
            <a:off x="4434840" y="2523744"/>
            <a:ext cx="396849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Test gate must fail then pass; replay</a:t>
            </a:r>
          </a:p>
        </p:txBody>
      </p:sp>
      <p:sp>
        <p:nvSpPr>
          <p:cNvPr id="17" name="TextBox 16"/>
          <p:cNvSpPr txBox="1"/>
          <p:nvPr/>
        </p:nvSpPr>
        <p:spPr>
          <a:xfrm>
            <a:off x="8549640" y="2523744"/>
            <a:ext cx="268833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A test can be shallow</a:t>
            </a:r>
          </a:p>
        </p:txBody>
      </p:sp>
      <p:sp>
        <p:nvSpPr>
          <p:cNvPr id="18" name="TextBox 17"/>
          <p:cNvSpPr txBox="1"/>
          <p:nvPr/>
        </p:nvSpPr>
        <p:spPr>
          <a:xfrm>
            <a:off x="777240" y="2980944"/>
            <a:ext cx="351129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Runaway repair loop</a:t>
            </a:r>
          </a:p>
        </p:txBody>
      </p:sp>
      <p:sp>
        <p:nvSpPr>
          <p:cNvPr id="19" name="TextBox 18"/>
          <p:cNvSpPr txBox="1"/>
          <p:nvPr/>
        </p:nvSpPr>
        <p:spPr>
          <a:xfrm>
            <a:off x="4434840" y="2980944"/>
            <a:ext cx="396849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Loop breaker, change budget, kill switch</a:t>
            </a:r>
          </a:p>
        </p:txBody>
      </p:sp>
      <p:sp>
        <p:nvSpPr>
          <p:cNvPr id="20" name="TextBox 19"/>
          <p:cNvSpPr txBox="1"/>
          <p:nvPr/>
        </p:nvSpPr>
        <p:spPr>
          <a:xfrm>
            <a:off x="8549640" y="2980944"/>
            <a:ext cx="268833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a:t>
            </a:r>
          </a:p>
        </p:txBody>
      </p:sp>
      <p:sp>
        <p:nvSpPr>
          <p:cNvPr id="21" name="Rectangle 20"/>
          <p:cNvSpPr/>
          <p:nvPr/>
        </p:nvSpPr>
        <p:spPr>
          <a:xfrm>
            <a:off x="667512" y="3374136"/>
            <a:ext cx="10826496" cy="438912"/>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 y="3438144"/>
            <a:ext cx="351129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Touches something it shouldn't</a:t>
            </a:r>
          </a:p>
        </p:txBody>
      </p:sp>
      <p:sp>
        <p:nvSpPr>
          <p:cNvPr id="23" name="TextBox 22"/>
          <p:cNvSpPr txBox="1"/>
          <p:nvPr/>
        </p:nvSpPr>
        <p:spPr>
          <a:xfrm>
            <a:off x="4434840" y="3438144"/>
            <a:ext cx="3968496" cy="512064"/>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Path allowlist, protected zones, typed tools</a:t>
            </a:r>
          </a:p>
        </p:txBody>
      </p:sp>
      <p:sp>
        <p:nvSpPr>
          <p:cNvPr id="24" name="TextBox 23"/>
          <p:cNvSpPr txBox="1"/>
          <p:nvPr/>
        </p:nvSpPr>
        <p:spPr>
          <a:xfrm>
            <a:off x="8549640" y="3438144"/>
            <a:ext cx="268833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Depends on the catalog</a:t>
            </a:r>
          </a:p>
        </p:txBody>
      </p:sp>
      <p:sp>
        <p:nvSpPr>
          <p:cNvPr id="25" name="TextBox 24"/>
          <p:cNvSpPr txBox="1"/>
          <p:nvPr/>
        </p:nvSpPr>
        <p:spPr>
          <a:xfrm>
            <a:off x="777240" y="3895344"/>
            <a:ext cx="351129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Silent corruption, no errors</a:t>
            </a:r>
          </a:p>
        </p:txBody>
      </p:sp>
      <p:sp>
        <p:nvSpPr>
          <p:cNvPr id="26" name="TextBox 25"/>
          <p:cNvSpPr txBox="1"/>
          <p:nvPr/>
        </p:nvSpPr>
        <p:spPr>
          <a:xfrm>
            <a:off x="4434840" y="3895344"/>
            <a:ext cx="3968496" cy="256032"/>
          </a:xfrm>
          <a:prstGeom prst="rect">
            <a:avLst/>
          </a:prstGeom>
          <a:noFill/>
        </p:spPr>
        <p:txBody>
          <a:bodyPr wrap="square" lIns="0" tIns="0" rIns="0" bIns="0" anchor="t">
            <a:spAutoFit/>
          </a:bodyPr>
          <a:lstStyle/>
          <a:p>
            <a:pPr algn="l">
              <a:lnSpc>
                <a:spcPct val="118000"/>
              </a:lnSpc>
              <a:spcAft>
                <a:spcPts val="0"/>
              </a:spcAft>
            </a:pPr>
            <a:r>
              <a:rPr sz="1300" b="1" i="0">
                <a:solidFill>
                  <a:srgbClr val="B91C1C"/>
                </a:solidFill>
                <a:latin typeface="Helvetica Neue"/>
              </a:rPr>
              <a:t>Nothing. Not detected today.</a:t>
            </a:r>
          </a:p>
        </p:txBody>
      </p:sp>
      <p:sp>
        <p:nvSpPr>
          <p:cNvPr id="27" name="TextBox 26"/>
          <p:cNvSpPr txBox="1"/>
          <p:nvPr/>
        </p:nvSpPr>
        <p:spPr>
          <a:xfrm>
            <a:off x="8549640" y="3895344"/>
            <a:ext cx="2688336" cy="256032"/>
          </a:xfrm>
          <a:prstGeom prst="rect">
            <a:avLst/>
          </a:prstGeom>
          <a:noFill/>
        </p:spPr>
        <p:txBody>
          <a:bodyPr wrap="square" lIns="0" tIns="0" rIns="0" bIns="0" anchor="t">
            <a:spAutoFit/>
          </a:bodyPr>
          <a:lstStyle/>
          <a:p>
            <a:pPr algn="l">
              <a:lnSpc>
                <a:spcPct val="118000"/>
              </a:lnSpc>
              <a:spcAft>
                <a:spcPts val="0"/>
              </a:spcAft>
            </a:pPr>
            <a:r>
              <a:rPr sz="1300" b="1" i="0">
                <a:solidFill>
                  <a:srgbClr val="B91C1C"/>
                </a:solidFill>
                <a:latin typeface="Helvetica Neue"/>
              </a:rPr>
              <a:t>Open gap</a:t>
            </a:r>
          </a:p>
        </p:txBody>
      </p:sp>
      <p:sp>
        <p:nvSpPr>
          <p:cNvPr id="28" name="Rectangle 27"/>
          <p:cNvSpPr/>
          <p:nvPr/>
        </p:nvSpPr>
        <p:spPr>
          <a:xfrm>
            <a:off x="667512" y="4288536"/>
            <a:ext cx="10826496" cy="438912"/>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77240" y="4352544"/>
            <a:ext cx="351129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Model unavailable mid-incident</a:t>
            </a:r>
          </a:p>
        </p:txBody>
      </p:sp>
      <p:sp>
        <p:nvSpPr>
          <p:cNvPr id="30" name="TextBox 29"/>
          <p:cNvSpPr txBox="1"/>
          <p:nvPr/>
        </p:nvSpPr>
        <p:spPr>
          <a:xfrm>
            <a:off x="4434840" y="4352544"/>
            <a:ext cx="396849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Falls back to deterministic diagnosis</a:t>
            </a:r>
          </a:p>
        </p:txBody>
      </p:sp>
      <p:sp>
        <p:nvSpPr>
          <p:cNvPr id="31" name="TextBox 30"/>
          <p:cNvSpPr txBox="1"/>
          <p:nvPr/>
        </p:nvSpPr>
        <p:spPr>
          <a:xfrm>
            <a:off x="8549640" y="4352544"/>
            <a:ext cx="2688336" cy="512064"/>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Loses the patch, not the owner</a:t>
            </a:r>
          </a:p>
        </p:txBody>
      </p:sp>
      <p:sp>
        <p:nvSpPr>
          <p:cNvPr id="32" name="Rectangle 31"/>
          <p:cNvSpPr/>
          <p:nvPr/>
        </p:nvSpPr>
        <p:spPr>
          <a:xfrm>
            <a:off x="777240" y="5038344"/>
            <a:ext cx="10637215" cy="73152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77240" y="5038344"/>
            <a:ext cx="41148" cy="73152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33271" y="5038344"/>
            <a:ext cx="10180015" cy="731520"/>
          </a:xfrm>
          <a:prstGeom prst="rect">
            <a:avLst/>
          </a:prstGeom>
          <a:noFill/>
        </p:spPr>
        <p:txBody>
          <a:bodyPr wrap="square" lIns="0" tIns="0" rIns="0" bIns="0" anchor="ctr">
            <a:spAutoFit/>
          </a:bodyPr>
          <a:lstStyle/>
          <a:p>
            <a:pPr algn="l">
              <a:lnSpc>
                <a:spcPct val="124000"/>
              </a:lnSpc>
              <a:spcAft>
                <a:spcPts val="0"/>
              </a:spcAft>
            </a:pPr>
            <a:r>
              <a:rPr sz="1400" b="0" i="0">
                <a:solidFill>
                  <a:srgbClr val="0F172A"/>
                </a:solidFill>
                <a:latin typeface="Helvetica Neue"/>
              </a:rPr>
              <a:t>The honest one: this is only as good as code.repository on your spans and an OpenAPI generated from your code. Without both, attribution degrades to guesswork.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77240" y="420624"/>
            <a:ext cx="10637215" cy="219456"/>
          </a:xfrm>
          <a:prstGeom prst="rect">
            <a:avLst/>
          </a:prstGeom>
          <a:noFill/>
        </p:spPr>
        <p:txBody>
          <a:bodyPr wrap="square" lIns="0" tIns="0" rIns="0" bIns="0" anchor="t">
            <a:spAutoFit/>
          </a:bodyPr>
          <a:lstStyle/>
          <a:p>
            <a:pPr algn="l">
              <a:lnSpc>
                <a:spcPct val="128000"/>
              </a:lnSpc>
              <a:spcAft>
                <a:spcPts val="0"/>
              </a:spcAft>
            </a:pPr>
            <a:r>
              <a:rPr sz="950" b="1" i="0" spc="160">
                <a:solidFill>
                  <a:srgbClr val="2F81F7"/>
                </a:solidFill>
                <a:latin typeface="Helvetica Neue"/>
              </a:rPr>
              <a:t>BE CLEAR ABOUT THIS</a:t>
            </a:r>
          </a:p>
        </p:txBody>
      </p:sp>
      <p:sp>
        <p:nvSpPr>
          <p:cNvPr id="3" name="TextBox 2"/>
          <p:cNvSpPr txBox="1"/>
          <p:nvPr/>
        </p:nvSpPr>
        <p:spPr>
          <a:xfrm>
            <a:off x="777240" y="658368"/>
            <a:ext cx="10637215" cy="566928"/>
          </a:xfrm>
          <a:prstGeom prst="rect">
            <a:avLst/>
          </a:prstGeom>
          <a:noFill/>
        </p:spPr>
        <p:txBody>
          <a:bodyPr wrap="square" lIns="0" tIns="0" rIns="0" bIns="0" anchor="t">
            <a:spAutoFit/>
          </a:bodyPr>
          <a:lstStyle/>
          <a:p>
            <a:pPr algn="l">
              <a:lnSpc>
                <a:spcPct val="106000"/>
              </a:lnSpc>
              <a:spcAft>
                <a:spcPts val="0"/>
              </a:spcAft>
            </a:pPr>
            <a:r>
              <a:rPr sz="2900" b="1" i="0">
                <a:solidFill>
                  <a:srgbClr val="0F172A"/>
                </a:solidFill>
                <a:latin typeface="Helvetica Neue"/>
              </a:rPr>
              <a:t>It is not production grade</a:t>
            </a:r>
          </a:p>
        </p:txBody>
      </p:sp>
      <p:sp>
        <p:nvSpPr>
          <p:cNvPr id="4" name="Rectangle 3"/>
          <p:cNvSpPr/>
          <p:nvPr/>
        </p:nvSpPr>
        <p:spPr>
          <a:xfrm>
            <a:off x="777240" y="1316736"/>
            <a:ext cx="1051560" cy="25400"/>
          </a:xfrm>
          <a:prstGeom prst="rect">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6382512"/>
            <a:ext cx="5486400" cy="201168"/>
          </a:xfrm>
          <a:prstGeom prst="rect">
            <a:avLst/>
          </a:prstGeom>
          <a:noFill/>
        </p:spPr>
        <p:txBody>
          <a:bodyPr wrap="square" lIns="0" tIns="0" rIns="0" bIns="0" anchor="t">
            <a:spAutoFit/>
          </a:bodyPr>
          <a:lstStyle/>
          <a:p>
            <a:pPr algn="l">
              <a:lnSpc>
                <a:spcPct val="128000"/>
              </a:lnSpc>
              <a:spcAft>
                <a:spcPts val="0"/>
              </a:spcAft>
            </a:pPr>
            <a:r>
              <a:rPr sz="850" b="0" i="0">
                <a:solidFill>
                  <a:srgbClr val="94A3B8"/>
                </a:solidFill>
                <a:latin typeface="Helvetica Neue"/>
              </a:rPr>
              <a:t>ASHS · Agentic Self-Healing System</a:t>
            </a:r>
          </a:p>
        </p:txBody>
      </p:sp>
      <p:sp>
        <p:nvSpPr>
          <p:cNvPr id="6" name="TextBox 5"/>
          <p:cNvSpPr txBox="1"/>
          <p:nvPr/>
        </p:nvSpPr>
        <p:spPr>
          <a:xfrm>
            <a:off x="10500055" y="6382512"/>
            <a:ext cx="914400" cy="201168"/>
          </a:xfrm>
          <a:prstGeom prst="rect">
            <a:avLst/>
          </a:prstGeom>
          <a:noFill/>
        </p:spPr>
        <p:txBody>
          <a:bodyPr wrap="square" lIns="0" tIns="0" rIns="0" bIns="0" anchor="t">
            <a:spAutoFit/>
          </a:bodyPr>
          <a:lstStyle/>
          <a:p>
            <a:pPr algn="r">
              <a:lnSpc>
                <a:spcPct val="128000"/>
              </a:lnSpc>
              <a:spcAft>
                <a:spcPts val="0"/>
              </a:spcAft>
            </a:pPr>
            <a:r>
              <a:rPr sz="850" b="0" i="0">
                <a:solidFill>
                  <a:srgbClr val="94A3B8"/>
                </a:solidFill>
                <a:latin typeface="Helvetica Neue"/>
              </a:rPr>
              <a:t>15</a:t>
            </a:r>
          </a:p>
        </p:txBody>
      </p:sp>
      <p:sp>
        <p:nvSpPr>
          <p:cNvPr id="7" name="Rectangle 6"/>
          <p:cNvSpPr/>
          <p:nvPr/>
        </p:nvSpPr>
        <p:spPr>
          <a:xfrm>
            <a:off x="777240" y="1645920"/>
            <a:ext cx="10637215" cy="603504"/>
          </a:xfrm>
          <a:prstGeom prst="rect">
            <a:avLst/>
          </a:prstGeom>
          <a:solidFill>
            <a:srgbClr val="FFF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1645920"/>
            <a:ext cx="41148" cy="60350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33271" y="1645920"/>
            <a:ext cx="10180015" cy="603504"/>
          </a:xfrm>
          <a:prstGeom prst="rect">
            <a:avLst/>
          </a:prstGeom>
          <a:noFill/>
        </p:spPr>
        <p:txBody>
          <a:bodyPr wrap="square" lIns="0" tIns="0" rIns="0" bIns="0" anchor="ctr">
            <a:spAutoFit/>
          </a:bodyPr>
          <a:lstStyle/>
          <a:p>
            <a:pPr algn="l">
              <a:lnSpc>
                <a:spcPct val="124000"/>
              </a:lnSpc>
              <a:spcAft>
                <a:spcPts val="0"/>
              </a:spcAft>
            </a:pPr>
            <a:r>
              <a:rPr sz="1700" b="1" i="0">
                <a:solidFill>
                  <a:srgbClr val="0F172A"/>
                </a:solidFill>
                <a:latin typeface="Helvetica Neue"/>
              </a:rPr>
              <a:t>A working prototype, not a product. Say so before anyone asks.</a:t>
            </a:r>
          </a:p>
        </p:txBody>
      </p:sp>
      <p:sp>
        <p:nvSpPr>
          <p:cNvPr id="10" name="Rounded Rectangle 9"/>
          <p:cNvSpPr/>
          <p:nvPr/>
        </p:nvSpPr>
        <p:spPr>
          <a:xfrm>
            <a:off x="777240" y="2592324"/>
            <a:ext cx="68580" cy="68580"/>
          </a:xfrm>
          <a:prstGeom prst="roundRect">
            <a:avLst>
              <a:gd name="adj" fmla="val 50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2487168"/>
            <a:ext cx="10222992" cy="274320"/>
          </a:xfrm>
          <a:prstGeom prst="rect">
            <a:avLst/>
          </a:prstGeom>
          <a:noFill/>
        </p:spPr>
        <p:txBody>
          <a:bodyPr wrap="square" lIns="0" tIns="0" rIns="0" bIns="0" anchor="t">
            <a:spAutoFit/>
          </a:bodyPr>
          <a:lstStyle/>
          <a:p>
            <a:pPr algn="l">
              <a:lnSpc>
                <a:spcPct val="128000"/>
              </a:lnSpc>
              <a:spcAft>
                <a:spcPts val="0"/>
              </a:spcAft>
            </a:pPr>
            <a:r>
              <a:rPr sz="1450" b="0" i="0">
                <a:solidFill>
                  <a:srgbClr val="334155"/>
                </a:solidFill>
                <a:latin typeface="Helvetica Neue"/>
              </a:rPr>
              <a:t>Runs on Docker Compose, on one machine. No HA, no multi-tenancy, no RBAC, no auth.</a:t>
            </a:r>
          </a:p>
        </p:txBody>
      </p:sp>
      <p:sp>
        <p:nvSpPr>
          <p:cNvPr id="12" name="Rounded Rectangle 11"/>
          <p:cNvSpPr/>
          <p:nvPr/>
        </p:nvSpPr>
        <p:spPr>
          <a:xfrm>
            <a:off x="777240" y="2994660"/>
            <a:ext cx="68580" cy="68580"/>
          </a:xfrm>
          <a:prstGeom prst="roundRect">
            <a:avLst>
              <a:gd name="adj" fmla="val 50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2889504"/>
            <a:ext cx="10222992" cy="274320"/>
          </a:xfrm>
          <a:prstGeom prst="rect">
            <a:avLst/>
          </a:prstGeom>
          <a:noFill/>
        </p:spPr>
        <p:txBody>
          <a:bodyPr wrap="square" lIns="0" tIns="0" rIns="0" bIns="0" anchor="t">
            <a:spAutoFit/>
          </a:bodyPr>
          <a:lstStyle/>
          <a:p>
            <a:pPr algn="l">
              <a:lnSpc>
                <a:spcPct val="128000"/>
              </a:lnSpc>
              <a:spcAft>
                <a:spcPts val="0"/>
              </a:spcAft>
            </a:pPr>
            <a:r>
              <a:rPr sz="1450" b="0" i="0">
                <a:solidFill>
                  <a:srgbClr val="334155"/>
                </a:solidFill>
                <a:latin typeface="Helvetica Neue"/>
              </a:rPr>
              <a:t>Patches are snapshot-and-restore on a mounted volume — not git, and not a pull request.</a:t>
            </a:r>
          </a:p>
        </p:txBody>
      </p:sp>
      <p:sp>
        <p:nvSpPr>
          <p:cNvPr id="14" name="Rounded Rectangle 13"/>
          <p:cNvSpPr/>
          <p:nvPr/>
        </p:nvSpPr>
        <p:spPr>
          <a:xfrm>
            <a:off x="777240" y="3396996"/>
            <a:ext cx="68580" cy="68580"/>
          </a:xfrm>
          <a:prstGeom prst="roundRect">
            <a:avLst>
              <a:gd name="adj" fmla="val 50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8408" y="3291840"/>
            <a:ext cx="10222992" cy="274320"/>
          </a:xfrm>
          <a:prstGeom prst="rect">
            <a:avLst/>
          </a:prstGeom>
          <a:noFill/>
        </p:spPr>
        <p:txBody>
          <a:bodyPr wrap="square" lIns="0" tIns="0" rIns="0" bIns="0" anchor="t">
            <a:spAutoFit/>
          </a:bodyPr>
          <a:lstStyle/>
          <a:p>
            <a:pPr algn="l">
              <a:lnSpc>
                <a:spcPct val="128000"/>
              </a:lnSpc>
              <a:spcAft>
                <a:spcPts val="0"/>
              </a:spcAft>
            </a:pPr>
            <a:r>
              <a:rPr sz="1450" b="0" i="0">
                <a:solidFill>
                  <a:srgbClr val="334155"/>
                </a:solidFill>
                <a:latin typeface="Helvetica Neue"/>
              </a:rPr>
              <a:t>"Deploy" means a hot reload. No build, no canary, no progressive rollout.</a:t>
            </a:r>
          </a:p>
        </p:txBody>
      </p:sp>
      <p:sp>
        <p:nvSpPr>
          <p:cNvPr id="16" name="Rounded Rectangle 15"/>
          <p:cNvSpPr/>
          <p:nvPr/>
        </p:nvSpPr>
        <p:spPr>
          <a:xfrm>
            <a:off x="777240" y="3799332"/>
            <a:ext cx="68580" cy="68580"/>
          </a:xfrm>
          <a:prstGeom prst="roundRect">
            <a:avLst>
              <a:gd name="adj" fmla="val 50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78408" y="3694176"/>
            <a:ext cx="10222992" cy="274320"/>
          </a:xfrm>
          <a:prstGeom prst="rect">
            <a:avLst/>
          </a:prstGeom>
          <a:noFill/>
        </p:spPr>
        <p:txBody>
          <a:bodyPr wrap="square" lIns="0" tIns="0" rIns="0" bIns="0" anchor="t">
            <a:spAutoFit/>
          </a:bodyPr>
          <a:lstStyle/>
          <a:p>
            <a:pPr algn="l">
              <a:lnSpc>
                <a:spcPct val="128000"/>
              </a:lnSpc>
              <a:spcAft>
                <a:spcPts val="0"/>
              </a:spcAft>
            </a:pPr>
            <a:r>
              <a:rPr sz="1450" b="0" i="0">
                <a:solidFill>
                  <a:srgbClr val="334155"/>
                </a:solidFill>
                <a:latin typeface="Helvetica Neue"/>
              </a:rPr>
              <a:t>Real telemetry is noisier than this estate by orders of magnitude.</a:t>
            </a:r>
          </a:p>
        </p:txBody>
      </p:sp>
      <p:sp>
        <p:nvSpPr>
          <p:cNvPr id="18" name="Rounded Rectangle 17"/>
          <p:cNvSpPr/>
          <p:nvPr/>
        </p:nvSpPr>
        <p:spPr>
          <a:xfrm>
            <a:off x="777240" y="4201668"/>
            <a:ext cx="68580" cy="68580"/>
          </a:xfrm>
          <a:prstGeom prst="roundRect">
            <a:avLst>
              <a:gd name="adj" fmla="val 50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8408" y="4096512"/>
            <a:ext cx="10222992" cy="274320"/>
          </a:xfrm>
          <a:prstGeom prst="rect">
            <a:avLst/>
          </a:prstGeom>
          <a:noFill/>
        </p:spPr>
        <p:txBody>
          <a:bodyPr wrap="square" lIns="0" tIns="0" rIns="0" bIns="0" anchor="t">
            <a:spAutoFit/>
          </a:bodyPr>
          <a:lstStyle/>
          <a:p>
            <a:pPr algn="l">
              <a:lnSpc>
                <a:spcPct val="128000"/>
              </a:lnSpc>
              <a:spcAft>
                <a:spcPts val="0"/>
              </a:spcAft>
            </a:pPr>
            <a:r>
              <a:rPr sz="1450" b="0" i="0">
                <a:solidFill>
                  <a:srgbClr val="334155"/>
                </a:solidFill>
                <a:latin typeface="Helvetica Neue"/>
              </a:rPr>
              <a:t>The demo fault-injection endpoints are compiled into the services.</a:t>
            </a:r>
          </a:p>
        </p:txBody>
      </p:sp>
      <p:sp>
        <p:nvSpPr>
          <p:cNvPr id="20" name="Rounded Rectangle 19"/>
          <p:cNvSpPr/>
          <p:nvPr/>
        </p:nvSpPr>
        <p:spPr>
          <a:xfrm>
            <a:off x="777240" y="4604004"/>
            <a:ext cx="68580" cy="68580"/>
          </a:xfrm>
          <a:prstGeom prst="roundRect">
            <a:avLst>
              <a:gd name="adj" fmla="val 50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78408" y="4498848"/>
            <a:ext cx="10222992" cy="274320"/>
          </a:xfrm>
          <a:prstGeom prst="rect">
            <a:avLst/>
          </a:prstGeom>
          <a:noFill/>
        </p:spPr>
        <p:txBody>
          <a:bodyPr wrap="square" lIns="0" tIns="0" rIns="0" bIns="0" anchor="t">
            <a:spAutoFit/>
          </a:bodyPr>
          <a:lstStyle/>
          <a:p>
            <a:pPr algn="l">
              <a:lnSpc>
                <a:spcPct val="128000"/>
              </a:lnSpc>
              <a:spcAft>
                <a:spcPts val="0"/>
              </a:spcAft>
            </a:pPr>
            <a:r>
              <a:rPr sz="1450" b="0" i="0">
                <a:solidFill>
                  <a:srgbClr val="334155"/>
                </a:solidFill>
                <a:latin typeface="Helvetica Neue"/>
              </a:rPr>
              <a:t>Emission factors are indicative only — not for reporting or disclosure.</a:t>
            </a:r>
          </a:p>
        </p:txBody>
      </p:sp>
      <p:sp>
        <p:nvSpPr>
          <p:cNvPr id="22" name="Rectangle 21"/>
          <p:cNvSpPr/>
          <p:nvPr/>
        </p:nvSpPr>
        <p:spPr>
          <a:xfrm>
            <a:off x="777240" y="5257800"/>
            <a:ext cx="10637215" cy="658368"/>
          </a:xfrm>
          <a:prstGeom prst="rect">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77240" y="5257800"/>
            <a:ext cx="41148" cy="658368"/>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33271" y="5257800"/>
            <a:ext cx="10180015" cy="658368"/>
          </a:xfrm>
          <a:prstGeom prst="rect">
            <a:avLst/>
          </a:prstGeom>
          <a:noFill/>
        </p:spPr>
        <p:txBody>
          <a:bodyPr wrap="square" lIns="0" tIns="0" rIns="0" bIns="0" anchor="ctr">
            <a:spAutoFit/>
          </a:bodyPr>
          <a:lstStyle/>
          <a:p>
            <a:pPr algn="l">
              <a:lnSpc>
                <a:spcPct val="124000"/>
              </a:lnSpc>
              <a:spcAft>
                <a:spcPts val="0"/>
              </a:spcAft>
            </a:pPr>
            <a:r>
              <a:rPr sz="1450" b="0" i="0">
                <a:solidFill>
                  <a:srgbClr val="0F172A"/>
                </a:solidFill>
                <a:latin typeface="Helvetica Neue"/>
              </a:rPr>
              <a:t>What is real: the attribution engine, the policy gates, the test gate, the audit trail and the rollback. Those are the parts worth arguing about.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77240" y="420624"/>
            <a:ext cx="10637215" cy="219456"/>
          </a:xfrm>
          <a:prstGeom prst="rect">
            <a:avLst/>
          </a:prstGeom>
          <a:noFill/>
        </p:spPr>
        <p:txBody>
          <a:bodyPr wrap="square" lIns="0" tIns="0" rIns="0" bIns="0" anchor="t">
            <a:spAutoFit/>
          </a:bodyPr>
          <a:lstStyle/>
          <a:p>
            <a:pPr algn="l">
              <a:lnSpc>
                <a:spcPct val="128000"/>
              </a:lnSpc>
              <a:spcAft>
                <a:spcPts val="0"/>
              </a:spcAft>
            </a:pPr>
            <a:r>
              <a:rPr sz="950" b="1" i="0" spc="160">
                <a:solidFill>
                  <a:srgbClr val="2F81F7"/>
                </a:solidFill>
                <a:latin typeface="Helvetica Neue"/>
              </a:rPr>
              <a:t>WHAT COMES NEXT · 1 OF 5</a:t>
            </a:r>
          </a:p>
        </p:txBody>
      </p:sp>
      <p:sp>
        <p:nvSpPr>
          <p:cNvPr id="3" name="TextBox 2"/>
          <p:cNvSpPr txBox="1"/>
          <p:nvPr/>
        </p:nvSpPr>
        <p:spPr>
          <a:xfrm>
            <a:off x="777240" y="658368"/>
            <a:ext cx="10637215" cy="566928"/>
          </a:xfrm>
          <a:prstGeom prst="rect">
            <a:avLst/>
          </a:prstGeom>
          <a:noFill/>
        </p:spPr>
        <p:txBody>
          <a:bodyPr wrap="square" lIns="0" tIns="0" rIns="0" bIns="0" anchor="t">
            <a:spAutoFit/>
          </a:bodyPr>
          <a:lstStyle/>
          <a:p>
            <a:pPr algn="l">
              <a:lnSpc>
                <a:spcPct val="106000"/>
              </a:lnSpc>
              <a:spcAft>
                <a:spcPts val="0"/>
              </a:spcAft>
            </a:pPr>
            <a:r>
              <a:rPr sz="2900" b="1" i="0">
                <a:solidFill>
                  <a:srgbClr val="0F172A"/>
                </a:solidFill>
                <a:latin typeface="Helvetica Neue"/>
              </a:rPr>
              <a:t>Close the honesty gaps first</a:t>
            </a:r>
          </a:p>
        </p:txBody>
      </p:sp>
      <p:sp>
        <p:nvSpPr>
          <p:cNvPr id="4" name="Rectangle 3"/>
          <p:cNvSpPr/>
          <p:nvPr/>
        </p:nvSpPr>
        <p:spPr>
          <a:xfrm>
            <a:off x="777240" y="1316736"/>
            <a:ext cx="1051560" cy="25400"/>
          </a:xfrm>
          <a:prstGeom prst="rect">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6382512"/>
            <a:ext cx="5486400" cy="201168"/>
          </a:xfrm>
          <a:prstGeom prst="rect">
            <a:avLst/>
          </a:prstGeom>
          <a:noFill/>
        </p:spPr>
        <p:txBody>
          <a:bodyPr wrap="square" lIns="0" tIns="0" rIns="0" bIns="0" anchor="t">
            <a:spAutoFit/>
          </a:bodyPr>
          <a:lstStyle/>
          <a:p>
            <a:pPr algn="l">
              <a:lnSpc>
                <a:spcPct val="128000"/>
              </a:lnSpc>
              <a:spcAft>
                <a:spcPts val="0"/>
              </a:spcAft>
            </a:pPr>
            <a:r>
              <a:rPr sz="850" b="0" i="0">
                <a:solidFill>
                  <a:srgbClr val="94A3B8"/>
                </a:solidFill>
                <a:latin typeface="Helvetica Neue"/>
              </a:rPr>
              <a:t>ASHS · Agentic Self-Healing System</a:t>
            </a:r>
          </a:p>
        </p:txBody>
      </p:sp>
      <p:sp>
        <p:nvSpPr>
          <p:cNvPr id="6" name="TextBox 5"/>
          <p:cNvSpPr txBox="1"/>
          <p:nvPr/>
        </p:nvSpPr>
        <p:spPr>
          <a:xfrm>
            <a:off x="10500055" y="6382512"/>
            <a:ext cx="914400" cy="201168"/>
          </a:xfrm>
          <a:prstGeom prst="rect">
            <a:avLst/>
          </a:prstGeom>
          <a:noFill/>
        </p:spPr>
        <p:txBody>
          <a:bodyPr wrap="square" lIns="0" tIns="0" rIns="0" bIns="0" anchor="t">
            <a:spAutoFit/>
          </a:bodyPr>
          <a:lstStyle/>
          <a:p>
            <a:pPr algn="r">
              <a:lnSpc>
                <a:spcPct val="128000"/>
              </a:lnSpc>
              <a:spcAft>
                <a:spcPts val="0"/>
              </a:spcAft>
            </a:pPr>
            <a:r>
              <a:rPr sz="850" b="0" i="0">
                <a:solidFill>
                  <a:srgbClr val="94A3B8"/>
                </a:solidFill>
                <a:latin typeface="Helvetica Neue"/>
              </a:rPr>
              <a:t>16</a:t>
            </a:r>
          </a:p>
        </p:txBody>
      </p:sp>
      <p:sp>
        <p:nvSpPr>
          <p:cNvPr id="7" name="TextBox 6"/>
          <p:cNvSpPr txBox="1"/>
          <p:nvPr/>
        </p:nvSpPr>
        <p:spPr>
          <a:xfrm>
            <a:off x="777240" y="1600200"/>
            <a:ext cx="10637215" cy="274320"/>
          </a:xfrm>
          <a:prstGeom prst="rect">
            <a:avLst/>
          </a:prstGeom>
          <a:noFill/>
        </p:spPr>
        <p:txBody>
          <a:bodyPr wrap="square" lIns="0" tIns="0" rIns="0" bIns="0" anchor="t">
            <a:spAutoFit/>
          </a:bodyPr>
          <a:lstStyle/>
          <a:p>
            <a:pPr algn="l">
              <a:lnSpc>
                <a:spcPct val="128000"/>
              </a:lnSpc>
              <a:spcAft>
                <a:spcPts val="0"/>
              </a:spcAft>
            </a:pPr>
            <a:r>
              <a:rPr sz="1400" b="0" i="0">
                <a:solidFill>
                  <a:srgbClr val="64748B"/>
                </a:solidFill>
                <a:latin typeface="Helvetica Neue"/>
              </a:rPr>
              <a:t>Weeks, not quarters. None of this needs new intelligence — only plumbing.</a:t>
            </a:r>
          </a:p>
        </p:txBody>
      </p:sp>
      <p:sp>
        <p:nvSpPr>
          <p:cNvPr id="8" name="TextBox 7"/>
          <p:cNvSpPr txBox="1"/>
          <p:nvPr/>
        </p:nvSpPr>
        <p:spPr>
          <a:xfrm>
            <a:off x="777240" y="2057400"/>
            <a:ext cx="3566160"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Feature</a:t>
            </a:r>
          </a:p>
        </p:txBody>
      </p:sp>
      <p:sp>
        <p:nvSpPr>
          <p:cNvPr id="9" name="TextBox 8"/>
          <p:cNvSpPr txBox="1"/>
          <p:nvPr/>
        </p:nvSpPr>
        <p:spPr>
          <a:xfrm>
            <a:off x="4343400" y="2057400"/>
            <a:ext cx="7040880"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Why it matters</a:t>
            </a:r>
          </a:p>
        </p:txBody>
      </p:sp>
      <p:sp>
        <p:nvSpPr>
          <p:cNvPr id="10" name="Rectangle 9"/>
          <p:cNvSpPr/>
          <p:nvPr/>
        </p:nvSpPr>
        <p:spPr>
          <a:xfrm>
            <a:off x="777240" y="2350008"/>
            <a:ext cx="1060704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478024"/>
            <a:ext cx="3419856" cy="256032"/>
          </a:xfrm>
          <a:prstGeom prst="rect">
            <a:avLst/>
          </a:prstGeom>
          <a:noFill/>
        </p:spPr>
        <p:txBody>
          <a:bodyPr wrap="square" lIns="0" tIns="0" rIns="0" bIns="0" anchor="t">
            <a:spAutoFit/>
          </a:bodyPr>
          <a:lstStyle/>
          <a:p>
            <a:pPr algn="l">
              <a:lnSpc>
                <a:spcPct val="118000"/>
              </a:lnSpc>
              <a:spcAft>
                <a:spcPts val="0"/>
              </a:spcAft>
            </a:pPr>
            <a:r>
              <a:rPr sz="1300" b="1" i="0">
                <a:solidFill>
                  <a:srgbClr val="0F172A"/>
                </a:solidFill>
                <a:latin typeface="Helvetica Neue"/>
              </a:rPr>
              <a:t>Git-backed patches</a:t>
            </a:r>
          </a:p>
        </p:txBody>
      </p:sp>
      <p:sp>
        <p:nvSpPr>
          <p:cNvPr id="12" name="TextBox 11"/>
          <p:cNvSpPr txBox="1"/>
          <p:nvPr/>
        </p:nvSpPr>
        <p:spPr>
          <a:xfrm>
            <a:off x="4343400" y="2478024"/>
            <a:ext cx="6894576" cy="512064"/>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Swap snapshot/restore for a branch, a diff and a review. Repairs land in the workflow teams already trust.</a:t>
            </a:r>
          </a:p>
        </p:txBody>
      </p:sp>
      <p:sp>
        <p:nvSpPr>
          <p:cNvPr id="13" name="Rectangle 12"/>
          <p:cNvSpPr/>
          <p:nvPr/>
        </p:nvSpPr>
        <p:spPr>
          <a:xfrm>
            <a:off x="667512" y="3072384"/>
            <a:ext cx="10826496" cy="6400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3136391"/>
            <a:ext cx="3419856" cy="256032"/>
          </a:xfrm>
          <a:prstGeom prst="rect">
            <a:avLst/>
          </a:prstGeom>
          <a:noFill/>
        </p:spPr>
        <p:txBody>
          <a:bodyPr wrap="square" lIns="0" tIns="0" rIns="0" bIns="0" anchor="t">
            <a:spAutoFit/>
          </a:bodyPr>
          <a:lstStyle/>
          <a:p>
            <a:pPr algn="l">
              <a:lnSpc>
                <a:spcPct val="118000"/>
              </a:lnSpc>
              <a:spcAft>
                <a:spcPts val="0"/>
              </a:spcAft>
            </a:pPr>
            <a:r>
              <a:rPr sz="1300" b="1" i="0">
                <a:solidFill>
                  <a:srgbClr val="0F172A"/>
                </a:solidFill>
                <a:latin typeface="Helvetica Neue"/>
              </a:rPr>
              <a:t>Approval UI</a:t>
            </a:r>
          </a:p>
        </p:txBody>
      </p:sp>
      <p:sp>
        <p:nvSpPr>
          <p:cNvPr id="15" name="TextBox 14"/>
          <p:cNvSpPr txBox="1"/>
          <p:nvPr/>
        </p:nvSpPr>
        <p:spPr>
          <a:xfrm>
            <a:off x="4343400" y="3136391"/>
            <a:ext cx="6894576" cy="512064"/>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The 0.60–0.85 band already drafts a patch. Give a human Approve / Reject / Amend in the dashboard — and record which they chose.</a:t>
            </a:r>
          </a:p>
        </p:txBody>
      </p:sp>
      <p:sp>
        <p:nvSpPr>
          <p:cNvPr id="16" name="TextBox 15"/>
          <p:cNvSpPr txBox="1"/>
          <p:nvPr/>
        </p:nvSpPr>
        <p:spPr>
          <a:xfrm>
            <a:off x="777240" y="3794759"/>
            <a:ext cx="341985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Slack and PagerDuty</a:t>
            </a:r>
          </a:p>
        </p:txBody>
      </p:sp>
      <p:sp>
        <p:nvSpPr>
          <p:cNvPr id="17" name="TextBox 16"/>
          <p:cNvSpPr txBox="1"/>
          <p:nvPr/>
        </p:nvSpPr>
        <p:spPr>
          <a:xfrm>
            <a:off x="4343400" y="3794759"/>
            <a:ext cx="6894576" cy="512064"/>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The escalation already carries owner and contact. Wiring it up is one handler, not a redesign.</a:t>
            </a:r>
          </a:p>
        </p:txBody>
      </p:sp>
      <p:sp>
        <p:nvSpPr>
          <p:cNvPr id="18" name="Rectangle 17"/>
          <p:cNvSpPr/>
          <p:nvPr/>
        </p:nvSpPr>
        <p:spPr>
          <a:xfrm>
            <a:off x="667512" y="4389119"/>
            <a:ext cx="10826496" cy="6400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453127"/>
            <a:ext cx="341985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Time-to-diagnosis metric</a:t>
            </a:r>
          </a:p>
        </p:txBody>
      </p:sp>
      <p:sp>
        <p:nvSpPr>
          <p:cNvPr id="20" name="TextBox 19"/>
          <p:cNvSpPr txBox="1"/>
          <p:nvPr/>
        </p:nvSpPr>
        <p:spPr>
          <a:xfrm>
            <a:off x="4343400" y="4453127"/>
            <a:ext cx="6894576" cy="512064"/>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We record time-to-repair but not how fast it noticed. That is the number that shows the loop is alive.</a:t>
            </a:r>
          </a:p>
        </p:txBody>
      </p:sp>
      <p:sp>
        <p:nvSpPr>
          <p:cNvPr id="21" name="TextBox 20"/>
          <p:cNvSpPr txBox="1"/>
          <p:nvPr/>
        </p:nvSpPr>
        <p:spPr>
          <a:xfrm>
            <a:off x="777240" y="5111495"/>
            <a:ext cx="341985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Rename POLICY_APPROVED</a:t>
            </a:r>
          </a:p>
        </p:txBody>
      </p:sp>
      <p:sp>
        <p:nvSpPr>
          <p:cNvPr id="22" name="TextBox 21"/>
          <p:cNvSpPr txBox="1"/>
          <p:nvPr/>
        </p:nvSpPr>
        <p:spPr>
          <a:xfrm>
            <a:off x="4343400" y="5111495"/>
            <a:ext cx="6894576" cy="512064"/>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It reads as though a human approved. Nine deterministic gates did. Words matter in an audit trail.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77240" y="420624"/>
            <a:ext cx="10637215" cy="219456"/>
          </a:xfrm>
          <a:prstGeom prst="rect">
            <a:avLst/>
          </a:prstGeom>
          <a:noFill/>
        </p:spPr>
        <p:txBody>
          <a:bodyPr wrap="square" lIns="0" tIns="0" rIns="0" bIns="0" anchor="t">
            <a:spAutoFit/>
          </a:bodyPr>
          <a:lstStyle/>
          <a:p>
            <a:pPr algn="l">
              <a:lnSpc>
                <a:spcPct val="128000"/>
              </a:lnSpc>
              <a:spcAft>
                <a:spcPts val="0"/>
              </a:spcAft>
            </a:pPr>
            <a:r>
              <a:rPr sz="950" b="1" i="0" spc="160">
                <a:solidFill>
                  <a:srgbClr val="2F81F7"/>
                </a:solidFill>
                <a:latin typeface="Helvetica Neue"/>
              </a:rPr>
              <a:t>WHAT COMES NEXT · 2 OF 5</a:t>
            </a:r>
          </a:p>
        </p:txBody>
      </p:sp>
      <p:sp>
        <p:nvSpPr>
          <p:cNvPr id="3" name="TextBox 2"/>
          <p:cNvSpPr txBox="1"/>
          <p:nvPr/>
        </p:nvSpPr>
        <p:spPr>
          <a:xfrm>
            <a:off x="777240" y="658368"/>
            <a:ext cx="10637215" cy="566928"/>
          </a:xfrm>
          <a:prstGeom prst="rect">
            <a:avLst/>
          </a:prstGeom>
          <a:noFill/>
        </p:spPr>
        <p:txBody>
          <a:bodyPr wrap="square" lIns="0" tIns="0" rIns="0" bIns="0" anchor="t">
            <a:spAutoFit/>
          </a:bodyPr>
          <a:lstStyle/>
          <a:p>
            <a:pPr algn="l">
              <a:lnSpc>
                <a:spcPct val="106000"/>
              </a:lnSpc>
              <a:spcAft>
                <a:spcPts val="0"/>
              </a:spcAft>
            </a:pPr>
            <a:r>
              <a:rPr sz="2900" b="1" i="0">
                <a:solidFill>
                  <a:srgbClr val="0F172A"/>
                </a:solidFill>
                <a:latin typeface="Helvetica Neue"/>
              </a:rPr>
              <a:t>We only see failures that throw</a:t>
            </a:r>
          </a:p>
        </p:txBody>
      </p:sp>
      <p:sp>
        <p:nvSpPr>
          <p:cNvPr id="4" name="Rectangle 3"/>
          <p:cNvSpPr/>
          <p:nvPr/>
        </p:nvSpPr>
        <p:spPr>
          <a:xfrm>
            <a:off x="777240" y="1316736"/>
            <a:ext cx="1051560" cy="25400"/>
          </a:xfrm>
          <a:prstGeom prst="rect">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6382512"/>
            <a:ext cx="5486400" cy="201168"/>
          </a:xfrm>
          <a:prstGeom prst="rect">
            <a:avLst/>
          </a:prstGeom>
          <a:noFill/>
        </p:spPr>
        <p:txBody>
          <a:bodyPr wrap="square" lIns="0" tIns="0" rIns="0" bIns="0" anchor="t">
            <a:spAutoFit/>
          </a:bodyPr>
          <a:lstStyle/>
          <a:p>
            <a:pPr algn="l">
              <a:lnSpc>
                <a:spcPct val="128000"/>
              </a:lnSpc>
              <a:spcAft>
                <a:spcPts val="0"/>
              </a:spcAft>
            </a:pPr>
            <a:r>
              <a:rPr sz="850" b="0" i="0">
                <a:solidFill>
                  <a:srgbClr val="94A3B8"/>
                </a:solidFill>
                <a:latin typeface="Helvetica Neue"/>
              </a:rPr>
              <a:t>ASHS · Agentic Self-Healing System</a:t>
            </a:r>
          </a:p>
        </p:txBody>
      </p:sp>
      <p:sp>
        <p:nvSpPr>
          <p:cNvPr id="6" name="TextBox 5"/>
          <p:cNvSpPr txBox="1"/>
          <p:nvPr/>
        </p:nvSpPr>
        <p:spPr>
          <a:xfrm>
            <a:off x="10500055" y="6382512"/>
            <a:ext cx="914400" cy="201168"/>
          </a:xfrm>
          <a:prstGeom prst="rect">
            <a:avLst/>
          </a:prstGeom>
          <a:noFill/>
        </p:spPr>
        <p:txBody>
          <a:bodyPr wrap="square" lIns="0" tIns="0" rIns="0" bIns="0" anchor="t">
            <a:spAutoFit/>
          </a:bodyPr>
          <a:lstStyle/>
          <a:p>
            <a:pPr algn="r">
              <a:lnSpc>
                <a:spcPct val="128000"/>
              </a:lnSpc>
              <a:spcAft>
                <a:spcPts val="0"/>
              </a:spcAft>
            </a:pPr>
            <a:r>
              <a:rPr sz="850" b="0" i="0">
                <a:solidFill>
                  <a:srgbClr val="94A3B8"/>
                </a:solidFill>
                <a:latin typeface="Helvetica Neue"/>
              </a:rPr>
              <a:t>17</a:t>
            </a:r>
          </a:p>
        </p:txBody>
      </p:sp>
      <p:sp>
        <p:nvSpPr>
          <p:cNvPr id="7" name="TextBox 6"/>
          <p:cNvSpPr txBox="1"/>
          <p:nvPr/>
        </p:nvSpPr>
        <p:spPr>
          <a:xfrm>
            <a:off x="777240" y="1600200"/>
            <a:ext cx="10637215" cy="274320"/>
          </a:xfrm>
          <a:prstGeom prst="rect">
            <a:avLst/>
          </a:prstGeom>
          <a:noFill/>
        </p:spPr>
        <p:txBody>
          <a:bodyPr wrap="square" lIns="0" tIns="0" rIns="0" bIns="0" anchor="t">
            <a:spAutoFit/>
          </a:bodyPr>
          <a:lstStyle/>
          <a:p>
            <a:pPr algn="l">
              <a:lnSpc>
                <a:spcPct val="128000"/>
              </a:lnSpc>
              <a:spcAft>
                <a:spcPts val="0"/>
              </a:spcAft>
            </a:pPr>
            <a:r>
              <a:rPr sz="1400" b="0" i="0">
                <a:solidFill>
                  <a:srgbClr val="64748B"/>
                </a:solidFill>
                <a:latin typeface="Helvetica Neue"/>
              </a:rPr>
              <a:t>This is the biggest functional gap, and the one a good engineer will find. Get there first.</a:t>
            </a:r>
          </a:p>
        </p:txBody>
      </p:sp>
      <p:sp>
        <p:nvSpPr>
          <p:cNvPr id="8" name="TextBox 7"/>
          <p:cNvSpPr txBox="1"/>
          <p:nvPr/>
        </p:nvSpPr>
        <p:spPr>
          <a:xfrm>
            <a:off x="777240" y="2057400"/>
            <a:ext cx="3931920"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Feature</a:t>
            </a:r>
          </a:p>
        </p:txBody>
      </p:sp>
      <p:sp>
        <p:nvSpPr>
          <p:cNvPr id="9" name="TextBox 8"/>
          <p:cNvSpPr txBox="1"/>
          <p:nvPr/>
        </p:nvSpPr>
        <p:spPr>
          <a:xfrm>
            <a:off x="4709159" y="2057400"/>
            <a:ext cx="6675120"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What it unlocks</a:t>
            </a:r>
          </a:p>
        </p:txBody>
      </p:sp>
      <p:sp>
        <p:nvSpPr>
          <p:cNvPr id="10" name="Rectangle 9"/>
          <p:cNvSpPr/>
          <p:nvPr/>
        </p:nvSpPr>
        <p:spPr>
          <a:xfrm>
            <a:off x="777240" y="2350008"/>
            <a:ext cx="1060704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478024"/>
            <a:ext cx="3785615"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SLO and anomaly detection</a:t>
            </a:r>
          </a:p>
        </p:txBody>
      </p:sp>
      <p:sp>
        <p:nvSpPr>
          <p:cNvPr id="12" name="TextBox 11"/>
          <p:cNvSpPr txBox="1"/>
          <p:nvPr/>
        </p:nvSpPr>
        <p:spPr>
          <a:xfrm>
            <a:off x="4709159" y="2478024"/>
            <a:ext cx="6528816" cy="512064"/>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Latency regressions, error-budget burn, throughput cliffs — none of which raise an exception</a:t>
            </a:r>
          </a:p>
        </p:txBody>
      </p:sp>
      <p:sp>
        <p:nvSpPr>
          <p:cNvPr id="13" name="Rectangle 12"/>
          <p:cNvSpPr/>
          <p:nvPr/>
        </p:nvSpPr>
        <p:spPr>
          <a:xfrm>
            <a:off x="667512" y="3017520"/>
            <a:ext cx="10826496" cy="585216"/>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3081528"/>
            <a:ext cx="3785615"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Semantic corruption checks</a:t>
            </a:r>
          </a:p>
        </p:txBody>
      </p:sp>
      <p:sp>
        <p:nvSpPr>
          <p:cNvPr id="15" name="TextBox 14"/>
          <p:cNvSpPr txBox="1"/>
          <p:nvPr/>
        </p:nvSpPr>
        <p:spPr>
          <a:xfrm>
            <a:off x="4709159" y="3081528"/>
            <a:ext cx="6528816" cy="512064"/>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A capability returning a plausible but wrong number. Contract validation catches shape, not meaning.</a:t>
            </a:r>
          </a:p>
        </p:txBody>
      </p:sp>
      <p:sp>
        <p:nvSpPr>
          <p:cNvPr id="16" name="TextBox 15"/>
          <p:cNvSpPr txBox="1"/>
          <p:nvPr/>
        </p:nvSpPr>
        <p:spPr>
          <a:xfrm>
            <a:off x="777240" y="3685032"/>
            <a:ext cx="3785615"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Continuous contract diffing</a:t>
            </a:r>
          </a:p>
        </p:txBody>
      </p:sp>
      <p:sp>
        <p:nvSpPr>
          <p:cNvPr id="17" name="TextBox 16"/>
          <p:cNvSpPr txBox="1"/>
          <p:nvPr/>
        </p:nvSpPr>
        <p:spPr>
          <a:xfrm>
            <a:off x="4709159" y="3685032"/>
            <a:ext cx="652881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Catch a schema change at deploy time, before a consumer breaks on it</a:t>
            </a:r>
          </a:p>
        </p:txBody>
      </p:sp>
      <p:sp>
        <p:nvSpPr>
          <p:cNvPr id="18" name="Rectangle 17"/>
          <p:cNvSpPr/>
          <p:nvPr/>
        </p:nvSpPr>
        <p:spPr>
          <a:xfrm>
            <a:off x="667512" y="4224528"/>
            <a:ext cx="10826496" cy="585216"/>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288536"/>
            <a:ext cx="3785615"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Golden-output regression</a:t>
            </a:r>
          </a:p>
        </p:txBody>
      </p:sp>
      <p:sp>
        <p:nvSpPr>
          <p:cNvPr id="20" name="TextBox 19"/>
          <p:cNvSpPr txBox="1"/>
          <p:nvPr/>
        </p:nvSpPr>
        <p:spPr>
          <a:xfrm>
            <a:off x="4709159" y="4288536"/>
            <a:ext cx="6528816" cy="512064"/>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Pin known-correct answers; alert when the same input produces a different one</a:t>
            </a:r>
          </a:p>
        </p:txBody>
      </p:sp>
      <p:sp>
        <p:nvSpPr>
          <p:cNvPr id="21" name="Rectangle 20"/>
          <p:cNvSpPr/>
          <p:nvPr/>
        </p:nvSpPr>
        <p:spPr>
          <a:xfrm>
            <a:off x="777240" y="4709160"/>
            <a:ext cx="10637215" cy="91440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77240" y="4709160"/>
            <a:ext cx="41148" cy="91440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33271" y="4709160"/>
            <a:ext cx="10180015" cy="914400"/>
          </a:xfrm>
          <a:prstGeom prst="rect">
            <a:avLst/>
          </a:prstGeom>
          <a:noFill/>
        </p:spPr>
        <p:txBody>
          <a:bodyPr wrap="square" lIns="0" tIns="0" rIns="0" bIns="0" anchor="ctr">
            <a:spAutoFit/>
          </a:bodyPr>
          <a:lstStyle/>
          <a:p>
            <a:pPr algn="l">
              <a:lnSpc>
                <a:spcPct val="124000"/>
              </a:lnSpc>
              <a:spcAft>
                <a:spcPts val="0"/>
              </a:spcAft>
            </a:pPr>
            <a:r>
              <a:rPr sz="1400" b="0" i="0">
                <a:solidFill>
                  <a:srgbClr val="0F172A"/>
                </a:solidFill>
                <a:latin typeface="Helvetica Neue"/>
              </a:rPr>
              <a:t>Today: flip an emission factor from 0.71 to 0.95. Every request still returns 200. Totals shift by 40%. Error rate never moves — and nothing detects it. Customers report carbon numbers that are wrong.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77240" y="420624"/>
            <a:ext cx="10637215" cy="219456"/>
          </a:xfrm>
          <a:prstGeom prst="rect">
            <a:avLst/>
          </a:prstGeom>
          <a:noFill/>
        </p:spPr>
        <p:txBody>
          <a:bodyPr wrap="square" lIns="0" tIns="0" rIns="0" bIns="0" anchor="t">
            <a:spAutoFit/>
          </a:bodyPr>
          <a:lstStyle/>
          <a:p>
            <a:pPr algn="l">
              <a:lnSpc>
                <a:spcPct val="128000"/>
              </a:lnSpc>
              <a:spcAft>
                <a:spcPts val="0"/>
              </a:spcAft>
            </a:pPr>
            <a:r>
              <a:rPr sz="950" b="1" i="0" spc="160">
                <a:solidFill>
                  <a:srgbClr val="2F81F7"/>
                </a:solidFill>
                <a:latin typeface="Helvetica Neue"/>
              </a:rPr>
              <a:t>WHAT COMES NEXT · 3 OF 5</a:t>
            </a:r>
          </a:p>
        </p:txBody>
      </p:sp>
      <p:sp>
        <p:nvSpPr>
          <p:cNvPr id="3" name="TextBox 2"/>
          <p:cNvSpPr txBox="1"/>
          <p:nvPr/>
        </p:nvSpPr>
        <p:spPr>
          <a:xfrm>
            <a:off x="777240" y="658368"/>
            <a:ext cx="10637215" cy="566928"/>
          </a:xfrm>
          <a:prstGeom prst="rect">
            <a:avLst/>
          </a:prstGeom>
          <a:noFill/>
        </p:spPr>
        <p:txBody>
          <a:bodyPr wrap="square" lIns="0" tIns="0" rIns="0" bIns="0" anchor="t">
            <a:spAutoFit/>
          </a:bodyPr>
          <a:lstStyle/>
          <a:p>
            <a:pPr algn="l">
              <a:lnSpc>
                <a:spcPct val="106000"/>
              </a:lnSpc>
              <a:spcAft>
                <a:spcPts val="0"/>
              </a:spcAft>
            </a:pPr>
            <a:r>
              <a:rPr sz="2900" b="1" i="0">
                <a:solidFill>
                  <a:srgbClr val="0F172A"/>
                </a:solidFill>
                <a:latin typeface="Helvetica Neue"/>
              </a:rPr>
              <a:t>Make it prove its own accuracy</a:t>
            </a:r>
          </a:p>
        </p:txBody>
      </p:sp>
      <p:sp>
        <p:nvSpPr>
          <p:cNvPr id="4" name="Rectangle 3"/>
          <p:cNvSpPr/>
          <p:nvPr/>
        </p:nvSpPr>
        <p:spPr>
          <a:xfrm>
            <a:off x="777240" y="1316736"/>
            <a:ext cx="1051560" cy="25400"/>
          </a:xfrm>
          <a:prstGeom prst="rect">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6382512"/>
            <a:ext cx="5486400" cy="201168"/>
          </a:xfrm>
          <a:prstGeom prst="rect">
            <a:avLst/>
          </a:prstGeom>
          <a:noFill/>
        </p:spPr>
        <p:txBody>
          <a:bodyPr wrap="square" lIns="0" tIns="0" rIns="0" bIns="0" anchor="t">
            <a:spAutoFit/>
          </a:bodyPr>
          <a:lstStyle/>
          <a:p>
            <a:pPr algn="l">
              <a:lnSpc>
                <a:spcPct val="128000"/>
              </a:lnSpc>
              <a:spcAft>
                <a:spcPts val="0"/>
              </a:spcAft>
            </a:pPr>
            <a:r>
              <a:rPr sz="850" b="0" i="0">
                <a:solidFill>
                  <a:srgbClr val="94A3B8"/>
                </a:solidFill>
                <a:latin typeface="Helvetica Neue"/>
              </a:rPr>
              <a:t>ASHS · Agentic Self-Healing System</a:t>
            </a:r>
          </a:p>
        </p:txBody>
      </p:sp>
      <p:sp>
        <p:nvSpPr>
          <p:cNvPr id="6" name="TextBox 5"/>
          <p:cNvSpPr txBox="1"/>
          <p:nvPr/>
        </p:nvSpPr>
        <p:spPr>
          <a:xfrm>
            <a:off x="10500055" y="6382512"/>
            <a:ext cx="914400" cy="201168"/>
          </a:xfrm>
          <a:prstGeom prst="rect">
            <a:avLst/>
          </a:prstGeom>
          <a:noFill/>
        </p:spPr>
        <p:txBody>
          <a:bodyPr wrap="square" lIns="0" tIns="0" rIns="0" bIns="0" anchor="t">
            <a:spAutoFit/>
          </a:bodyPr>
          <a:lstStyle/>
          <a:p>
            <a:pPr algn="r">
              <a:lnSpc>
                <a:spcPct val="128000"/>
              </a:lnSpc>
              <a:spcAft>
                <a:spcPts val="0"/>
              </a:spcAft>
            </a:pPr>
            <a:r>
              <a:rPr sz="850" b="0" i="0">
                <a:solidFill>
                  <a:srgbClr val="94A3B8"/>
                </a:solidFill>
                <a:latin typeface="Helvetica Neue"/>
              </a:rPr>
              <a:t>18</a:t>
            </a:r>
          </a:p>
        </p:txBody>
      </p:sp>
      <p:sp>
        <p:nvSpPr>
          <p:cNvPr id="7" name="TextBox 6"/>
          <p:cNvSpPr txBox="1"/>
          <p:nvPr/>
        </p:nvSpPr>
        <p:spPr>
          <a:xfrm>
            <a:off x="777240" y="1600200"/>
            <a:ext cx="10637215" cy="274320"/>
          </a:xfrm>
          <a:prstGeom prst="rect">
            <a:avLst/>
          </a:prstGeom>
          <a:noFill/>
        </p:spPr>
        <p:txBody>
          <a:bodyPr wrap="square" lIns="0" tIns="0" rIns="0" bIns="0" anchor="t">
            <a:spAutoFit/>
          </a:bodyPr>
          <a:lstStyle/>
          <a:p>
            <a:pPr algn="l">
              <a:lnSpc>
                <a:spcPct val="128000"/>
              </a:lnSpc>
              <a:spcAft>
                <a:spcPts val="0"/>
              </a:spcAft>
            </a:pPr>
            <a:r>
              <a:rPr sz="1400" b="0" i="0">
                <a:solidFill>
                  <a:srgbClr val="64748B"/>
                </a:solidFill>
                <a:latin typeface="Helvetica Neue"/>
              </a:rPr>
              <a:t>Right now the weights are hand-set and defended by argument. They should be measured.</a:t>
            </a:r>
          </a:p>
        </p:txBody>
      </p:sp>
      <p:sp>
        <p:nvSpPr>
          <p:cNvPr id="8" name="TextBox 7"/>
          <p:cNvSpPr txBox="1"/>
          <p:nvPr/>
        </p:nvSpPr>
        <p:spPr>
          <a:xfrm>
            <a:off x="777240" y="2057400"/>
            <a:ext cx="3931920"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Feature</a:t>
            </a:r>
          </a:p>
        </p:txBody>
      </p:sp>
      <p:sp>
        <p:nvSpPr>
          <p:cNvPr id="9" name="TextBox 8"/>
          <p:cNvSpPr txBox="1"/>
          <p:nvPr/>
        </p:nvSpPr>
        <p:spPr>
          <a:xfrm>
            <a:off x="4709159" y="2057400"/>
            <a:ext cx="6675120"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Why</a:t>
            </a:r>
          </a:p>
        </p:txBody>
      </p:sp>
      <p:sp>
        <p:nvSpPr>
          <p:cNvPr id="10" name="Rectangle 9"/>
          <p:cNvSpPr/>
          <p:nvPr/>
        </p:nvSpPr>
        <p:spPr>
          <a:xfrm>
            <a:off x="777240" y="2350008"/>
            <a:ext cx="1060704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478024"/>
            <a:ext cx="3785615"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Outcome feedback</a:t>
            </a:r>
          </a:p>
        </p:txBody>
      </p:sp>
      <p:sp>
        <p:nvSpPr>
          <p:cNvPr id="12" name="TextBox 11"/>
          <p:cNvSpPr txBox="1"/>
          <p:nvPr/>
        </p:nvSpPr>
        <p:spPr>
          <a:xfrm>
            <a:off x="4709159" y="2478024"/>
            <a:ext cx="6528816" cy="512064"/>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Did the repair hold for seven days, or did the incident come back? Feed that back per signal.</a:t>
            </a:r>
          </a:p>
        </p:txBody>
      </p:sp>
      <p:sp>
        <p:nvSpPr>
          <p:cNvPr id="13" name="Rectangle 12"/>
          <p:cNvSpPr/>
          <p:nvPr/>
        </p:nvSpPr>
        <p:spPr>
          <a:xfrm>
            <a:off x="667512" y="2999232"/>
            <a:ext cx="10826496" cy="56692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3063240"/>
            <a:ext cx="3785615"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Calibrated confidence</a:t>
            </a:r>
          </a:p>
        </p:txBody>
      </p:sp>
      <p:sp>
        <p:nvSpPr>
          <p:cNvPr id="15" name="TextBox 14"/>
          <p:cNvSpPr txBox="1"/>
          <p:nvPr/>
        </p:nvSpPr>
        <p:spPr>
          <a:xfrm>
            <a:off x="4709159" y="3063240"/>
            <a:ext cx="6528816" cy="512064"/>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Fit the weights to observed correctness, then publish them — so the floors mean something empirical.</a:t>
            </a:r>
          </a:p>
        </p:txBody>
      </p:sp>
      <p:sp>
        <p:nvSpPr>
          <p:cNvPr id="16" name="TextBox 15"/>
          <p:cNvSpPr txBox="1"/>
          <p:nvPr/>
        </p:nvSpPr>
        <p:spPr>
          <a:xfrm>
            <a:off x="777240" y="3648456"/>
            <a:ext cx="3785615"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Disagreement log</a:t>
            </a:r>
          </a:p>
        </p:txBody>
      </p:sp>
      <p:sp>
        <p:nvSpPr>
          <p:cNvPr id="17" name="TextBox 16"/>
          <p:cNvSpPr txBox="1"/>
          <p:nvPr/>
        </p:nvSpPr>
        <p:spPr>
          <a:xfrm>
            <a:off x="4709159" y="3648456"/>
            <a:ext cx="6528816" cy="512064"/>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When a human overrides the fault domain, record it. That set is the training data for all of this.</a:t>
            </a:r>
          </a:p>
        </p:txBody>
      </p:sp>
      <p:sp>
        <p:nvSpPr>
          <p:cNvPr id="18" name="Rectangle 17"/>
          <p:cNvSpPr/>
          <p:nvPr/>
        </p:nvSpPr>
        <p:spPr>
          <a:xfrm>
            <a:off x="667512" y="4169663"/>
            <a:ext cx="10826496" cy="56692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233672"/>
            <a:ext cx="3785615"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Per-signal precision</a:t>
            </a:r>
          </a:p>
        </p:txBody>
      </p:sp>
      <p:sp>
        <p:nvSpPr>
          <p:cNvPr id="20" name="TextBox 19"/>
          <p:cNvSpPr txBox="1"/>
          <p:nvPr/>
        </p:nvSpPr>
        <p:spPr>
          <a:xfrm>
            <a:off x="4709159" y="4233672"/>
            <a:ext cx="6528816" cy="512064"/>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"Contract validation has been right 47 times out of 47" beats "we weight it 0.88".</a:t>
            </a:r>
          </a:p>
        </p:txBody>
      </p:sp>
      <p:sp>
        <p:nvSpPr>
          <p:cNvPr id="21" name="TextBox 20"/>
          <p:cNvSpPr txBox="1"/>
          <p:nvPr/>
        </p:nvSpPr>
        <p:spPr>
          <a:xfrm>
            <a:off x="777240" y="4818888"/>
            <a:ext cx="3785615"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Cost per incident</a:t>
            </a:r>
          </a:p>
        </p:txBody>
      </p:sp>
      <p:sp>
        <p:nvSpPr>
          <p:cNvPr id="22" name="TextBox 21"/>
          <p:cNvSpPr txBox="1"/>
          <p:nvPr/>
        </p:nvSpPr>
        <p:spPr>
          <a:xfrm>
            <a:off x="4709159" y="4818888"/>
            <a:ext cx="652881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Model spend, compute, and engineer-minutes saved — per repair.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77240" y="420624"/>
            <a:ext cx="10637215" cy="219456"/>
          </a:xfrm>
          <a:prstGeom prst="rect">
            <a:avLst/>
          </a:prstGeom>
          <a:noFill/>
        </p:spPr>
        <p:txBody>
          <a:bodyPr wrap="square" lIns="0" tIns="0" rIns="0" bIns="0" anchor="t">
            <a:spAutoFit/>
          </a:bodyPr>
          <a:lstStyle/>
          <a:p>
            <a:pPr algn="l">
              <a:lnSpc>
                <a:spcPct val="128000"/>
              </a:lnSpc>
              <a:spcAft>
                <a:spcPts val="0"/>
              </a:spcAft>
            </a:pPr>
            <a:r>
              <a:rPr sz="950" b="1" i="0" spc="160">
                <a:solidFill>
                  <a:srgbClr val="2F81F7"/>
                </a:solidFill>
                <a:latin typeface="Helvetica Neue"/>
              </a:rPr>
              <a:t>WHAT COMES NEXT · 4 OF 5</a:t>
            </a:r>
          </a:p>
        </p:txBody>
      </p:sp>
      <p:sp>
        <p:nvSpPr>
          <p:cNvPr id="3" name="TextBox 2"/>
          <p:cNvSpPr txBox="1"/>
          <p:nvPr/>
        </p:nvSpPr>
        <p:spPr>
          <a:xfrm>
            <a:off x="777240" y="658368"/>
            <a:ext cx="10637215" cy="566928"/>
          </a:xfrm>
          <a:prstGeom prst="rect">
            <a:avLst/>
          </a:prstGeom>
          <a:noFill/>
        </p:spPr>
        <p:txBody>
          <a:bodyPr wrap="square" lIns="0" tIns="0" rIns="0" bIns="0" anchor="t">
            <a:spAutoFit/>
          </a:bodyPr>
          <a:lstStyle/>
          <a:p>
            <a:pPr algn="l">
              <a:lnSpc>
                <a:spcPct val="106000"/>
              </a:lnSpc>
              <a:spcAft>
                <a:spcPts val="0"/>
              </a:spcAft>
            </a:pPr>
            <a:r>
              <a:rPr sz="2900" b="1" i="0">
                <a:solidFill>
                  <a:srgbClr val="0F172A"/>
                </a:solidFill>
                <a:latin typeface="Helvetica Neue"/>
              </a:rPr>
              <a:t>From three services to a real estate</a:t>
            </a:r>
          </a:p>
        </p:txBody>
      </p:sp>
      <p:sp>
        <p:nvSpPr>
          <p:cNvPr id="4" name="Rectangle 3"/>
          <p:cNvSpPr/>
          <p:nvPr/>
        </p:nvSpPr>
        <p:spPr>
          <a:xfrm>
            <a:off x="777240" y="1316736"/>
            <a:ext cx="1051560" cy="25400"/>
          </a:xfrm>
          <a:prstGeom prst="rect">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6382512"/>
            <a:ext cx="5486400" cy="201168"/>
          </a:xfrm>
          <a:prstGeom prst="rect">
            <a:avLst/>
          </a:prstGeom>
          <a:noFill/>
        </p:spPr>
        <p:txBody>
          <a:bodyPr wrap="square" lIns="0" tIns="0" rIns="0" bIns="0" anchor="t">
            <a:spAutoFit/>
          </a:bodyPr>
          <a:lstStyle/>
          <a:p>
            <a:pPr algn="l">
              <a:lnSpc>
                <a:spcPct val="128000"/>
              </a:lnSpc>
              <a:spcAft>
                <a:spcPts val="0"/>
              </a:spcAft>
            </a:pPr>
            <a:r>
              <a:rPr sz="850" b="0" i="0">
                <a:solidFill>
                  <a:srgbClr val="94A3B8"/>
                </a:solidFill>
                <a:latin typeface="Helvetica Neue"/>
              </a:rPr>
              <a:t>ASHS · Agentic Self-Healing System</a:t>
            </a:r>
          </a:p>
        </p:txBody>
      </p:sp>
      <p:sp>
        <p:nvSpPr>
          <p:cNvPr id="6" name="TextBox 5"/>
          <p:cNvSpPr txBox="1"/>
          <p:nvPr/>
        </p:nvSpPr>
        <p:spPr>
          <a:xfrm>
            <a:off x="10500055" y="6382512"/>
            <a:ext cx="914400" cy="201168"/>
          </a:xfrm>
          <a:prstGeom prst="rect">
            <a:avLst/>
          </a:prstGeom>
          <a:noFill/>
        </p:spPr>
        <p:txBody>
          <a:bodyPr wrap="square" lIns="0" tIns="0" rIns="0" bIns="0" anchor="t">
            <a:spAutoFit/>
          </a:bodyPr>
          <a:lstStyle/>
          <a:p>
            <a:pPr algn="r">
              <a:lnSpc>
                <a:spcPct val="128000"/>
              </a:lnSpc>
              <a:spcAft>
                <a:spcPts val="0"/>
              </a:spcAft>
            </a:pPr>
            <a:r>
              <a:rPr sz="850" b="0" i="0">
                <a:solidFill>
                  <a:srgbClr val="94A3B8"/>
                </a:solidFill>
                <a:latin typeface="Helvetica Neue"/>
              </a:rPr>
              <a:t>19</a:t>
            </a:r>
          </a:p>
        </p:txBody>
      </p:sp>
      <p:sp>
        <p:nvSpPr>
          <p:cNvPr id="7" name="TextBox 6"/>
          <p:cNvSpPr txBox="1"/>
          <p:nvPr/>
        </p:nvSpPr>
        <p:spPr>
          <a:xfrm>
            <a:off x="777240" y="1600200"/>
            <a:ext cx="10637215" cy="274320"/>
          </a:xfrm>
          <a:prstGeom prst="rect">
            <a:avLst/>
          </a:prstGeom>
          <a:noFill/>
        </p:spPr>
        <p:txBody>
          <a:bodyPr wrap="square" lIns="0" tIns="0" rIns="0" bIns="0" anchor="t">
            <a:spAutoFit/>
          </a:bodyPr>
          <a:lstStyle/>
          <a:p>
            <a:pPr algn="l">
              <a:lnSpc>
                <a:spcPct val="128000"/>
              </a:lnSpc>
              <a:spcAft>
                <a:spcPts val="0"/>
              </a:spcAft>
            </a:pPr>
            <a:r>
              <a:rPr sz="1400" b="0" i="0">
                <a:solidFill>
                  <a:srgbClr val="64748B"/>
                </a:solidFill>
                <a:latin typeface="Helvetica Neue"/>
              </a:rPr>
              <a:t>Quarters. The catalog already drives everything — the hard part is onboarding and trust, not code.</a:t>
            </a:r>
          </a:p>
        </p:txBody>
      </p:sp>
      <p:sp>
        <p:nvSpPr>
          <p:cNvPr id="8" name="TextBox 7"/>
          <p:cNvSpPr txBox="1"/>
          <p:nvPr/>
        </p:nvSpPr>
        <p:spPr>
          <a:xfrm>
            <a:off x="777240" y="2057400"/>
            <a:ext cx="3931920"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Feature</a:t>
            </a:r>
          </a:p>
        </p:txBody>
      </p:sp>
      <p:sp>
        <p:nvSpPr>
          <p:cNvPr id="9" name="TextBox 8"/>
          <p:cNvSpPr txBox="1"/>
          <p:nvPr/>
        </p:nvSpPr>
        <p:spPr>
          <a:xfrm>
            <a:off x="4709159" y="2057400"/>
            <a:ext cx="6675120"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Why</a:t>
            </a:r>
          </a:p>
        </p:txBody>
      </p:sp>
      <p:sp>
        <p:nvSpPr>
          <p:cNvPr id="10" name="Rectangle 9"/>
          <p:cNvSpPr/>
          <p:nvPr/>
        </p:nvSpPr>
        <p:spPr>
          <a:xfrm>
            <a:off x="777240" y="2350008"/>
            <a:ext cx="1060704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478024"/>
            <a:ext cx="3785615"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Self-service onboarding</a:t>
            </a:r>
          </a:p>
        </p:txBody>
      </p:sp>
      <p:sp>
        <p:nvSpPr>
          <p:cNvPr id="12" name="TextBox 11"/>
          <p:cNvSpPr txBox="1"/>
          <p:nvPr/>
        </p:nvSpPr>
        <p:spPr>
          <a:xfrm>
            <a:off x="4709159" y="2478024"/>
            <a:ext cx="652881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A guided path and a linter for services.yaml, so a team can add itself</a:t>
            </a:r>
          </a:p>
        </p:txBody>
      </p:sp>
      <p:sp>
        <p:nvSpPr>
          <p:cNvPr id="13" name="Rectangle 12"/>
          <p:cNvSpPr/>
          <p:nvPr/>
        </p:nvSpPr>
        <p:spPr>
          <a:xfrm>
            <a:off x="667512" y="2926080"/>
            <a:ext cx="10826496" cy="493776"/>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2990088"/>
            <a:ext cx="3785615"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Kubernetes execution</a:t>
            </a:r>
          </a:p>
        </p:txBody>
      </p:sp>
      <p:sp>
        <p:nvSpPr>
          <p:cNvPr id="15" name="TextBox 14"/>
          <p:cNvSpPr txBox="1"/>
          <p:nvPr/>
        </p:nvSpPr>
        <p:spPr>
          <a:xfrm>
            <a:off x="4709159" y="2990088"/>
            <a:ext cx="6528816" cy="512064"/>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Replace hot reload with a real deploy: canary, progressive rollout, automatic revert on SLO breach</a:t>
            </a:r>
          </a:p>
        </p:txBody>
      </p:sp>
      <p:sp>
        <p:nvSpPr>
          <p:cNvPr id="16" name="TextBox 15"/>
          <p:cNvSpPr txBox="1"/>
          <p:nvPr/>
        </p:nvSpPr>
        <p:spPr>
          <a:xfrm>
            <a:off x="777240" y="3502152"/>
            <a:ext cx="3785615"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RBAC and authentication</a:t>
            </a:r>
          </a:p>
        </p:txBody>
      </p:sp>
      <p:sp>
        <p:nvSpPr>
          <p:cNvPr id="17" name="TextBox 16"/>
          <p:cNvSpPr txBox="1"/>
          <p:nvPr/>
        </p:nvSpPr>
        <p:spPr>
          <a:xfrm>
            <a:off x="4709159" y="3502152"/>
            <a:ext cx="6528816" cy="512064"/>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Who may move a floor, engage the kill switch, or approve a drafted patch</a:t>
            </a:r>
          </a:p>
        </p:txBody>
      </p:sp>
      <p:sp>
        <p:nvSpPr>
          <p:cNvPr id="18" name="Rectangle 17"/>
          <p:cNvSpPr/>
          <p:nvPr/>
        </p:nvSpPr>
        <p:spPr>
          <a:xfrm>
            <a:off x="667512" y="3950208"/>
            <a:ext cx="10826496" cy="493776"/>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014216"/>
            <a:ext cx="3785615"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Dependency discovery</a:t>
            </a:r>
          </a:p>
        </p:txBody>
      </p:sp>
      <p:sp>
        <p:nvSpPr>
          <p:cNvPr id="20" name="TextBox 19"/>
          <p:cNvSpPr txBox="1"/>
          <p:nvPr/>
        </p:nvSpPr>
        <p:spPr>
          <a:xfrm>
            <a:off x="4709159" y="4014216"/>
            <a:ext cx="6528816" cy="512064"/>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Derive depends_on from observed traces instead of maintaining it by hand</a:t>
            </a:r>
          </a:p>
        </p:txBody>
      </p:sp>
      <p:sp>
        <p:nvSpPr>
          <p:cNvPr id="21" name="TextBox 20"/>
          <p:cNvSpPr txBox="1"/>
          <p:nvPr/>
        </p:nvSpPr>
        <p:spPr>
          <a:xfrm>
            <a:off x="777240" y="4526280"/>
            <a:ext cx="3785615"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Maintenance windows</a:t>
            </a:r>
          </a:p>
        </p:txBody>
      </p:sp>
      <p:sp>
        <p:nvSpPr>
          <p:cNvPr id="22" name="TextBox 21"/>
          <p:cNvSpPr txBox="1"/>
          <p:nvPr/>
        </p:nvSpPr>
        <p:spPr>
          <a:xfrm>
            <a:off x="4709159" y="4526280"/>
            <a:ext cx="652881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Stop opening incidents during a planned migration</a:t>
            </a:r>
          </a:p>
        </p:txBody>
      </p:sp>
      <p:sp>
        <p:nvSpPr>
          <p:cNvPr id="23" name="Rectangle 22"/>
          <p:cNvSpPr/>
          <p:nvPr/>
        </p:nvSpPr>
        <p:spPr>
          <a:xfrm>
            <a:off x="667512" y="4974336"/>
            <a:ext cx="10826496" cy="493776"/>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7240" y="5038344"/>
            <a:ext cx="3785615"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HA control plane</a:t>
            </a:r>
          </a:p>
        </p:txBody>
      </p:sp>
      <p:sp>
        <p:nvSpPr>
          <p:cNvPr id="25" name="TextBox 24"/>
          <p:cNvSpPr txBox="1"/>
          <p:nvPr/>
        </p:nvSpPr>
        <p:spPr>
          <a:xfrm>
            <a:off x="4709159" y="5038344"/>
            <a:ext cx="652881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Today it is a single point of failure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77240" y="420624"/>
            <a:ext cx="10637215" cy="219456"/>
          </a:xfrm>
          <a:prstGeom prst="rect">
            <a:avLst/>
          </a:prstGeom>
          <a:noFill/>
        </p:spPr>
        <p:txBody>
          <a:bodyPr wrap="square" lIns="0" tIns="0" rIns="0" bIns="0" anchor="t">
            <a:spAutoFit/>
          </a:bodyPr>
          <a:lstStyle/>
          <a:p>
            <a:pPr algn="l">
              <a:lnSpc>
                <a:spcPct val="128000"/>
              </a:lnSpc>
              <a:spcAft>
                <a:spcPts val="0"/>
              </a:spcAft>
            </a:pPr>
            <a:r>
              <a:rPr sz="950" b="1" i="0" spc="160">
                <a:solidFill>
                  <a:srgbClr val="2F81F7"/>
                </a:solidFill>
                <a:latin typeface="Helvetica Neue"/>
              </a:rPr>
              <a:t>WHAT COMES NEXT · 5 OF 5</a:t>
            </a:r>
          </a:p>
        </p:txBody>
      </p:sp>
      <p:sp>
        <p:nvSpPr>
          <p:cNvPr id="3" name="TextBox 2"/>
          <p:cNvSpPr txBox="1"/>
          <p:nvPr/>
        </p:nvSpPr>
        <p:spPr>
          <a:xfrm>
            <a:off x="777240" y="658368"/>
            <a:ext cx="10637215" cy="566928"/>
          </a:xfrm>
          <a:prstGeom prst="rect">
            <a:avLst/>
          </a:prstGeom>
          <a:noFill/>
        </p:spPr>
        <p:txBody>
          <a:bodyPr wrap="square" lIns="0" tIns="0" rIns="0" bIns="0" anchor="t">
            <a:spAutoFit/>
          </a:bodyPr>
          <a:lstStyle/>
          <a:p>
            <a:pPr algn="l">
              <a:lnSpc>
                <a:spcPct val="106000"/>
              </a:lnSpc>
              <a:spcAft>
                <a:spcPts val="0"/>
              </a:spcAft>
            </a:pPr>
            <a:r>
              <a:rPr sz="2900" b="1" i="0">
                <a:solidFill>
                  <a:srgbClr val="0F172A"/>
                </a:solidFill>
                <a:latin typeface="Helvetica Neue"/>
              </a:rPr>
              <a:t>The ambitious end</a:t>
            </a:r>
          </a:p>
        </p:txBody>
      </p:sp>
      <p:sp>
        <p:nvSpPr>
          <p:cNvPr id="4" name="Rectangle 3"/>
          <p:cNvSpPr/>
          <p:nvPr/>
        </p:nvSpPr>
        <p:spPr>
          <a:xfrm>
            <a:off x="777240" y="1316736"/>
            <a:ext cx="1051560" cy="25400"/>
          </a:xfrm>
          <a:prstGeom prst="rect">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6382512"/>
            <a:ext cx="5486400" cy="201168"/>
          </a:xfrm>
          <a:prstGeom prst="rect">
            <a:avLst/>
          </a:prstGeom>
          <a:noFill/>
        </p:spPr>
        <p:txBody>
          <a:bodyPr wrap="square" lIns="0" tIns="0" rIns="0" bIns="0" anchor="t">
            <a:spAutoFit/>
          </a:bodyPr>
          <a:lstStyle/>
          <a:p>
            <a:pPr algn="l">
              <a:lnSpc>
                <a:spcPct val="128000"/>
              </a:lnSpc>
              <a:spcAft>
                <a:spcPts val="0"/>
              </a:spcAft>
            </a:pPr>
            <a:r>
              <a:rPr sz="850" b="0" i="0">
                <a:solidFill>
                  <a:srgbClr val="94A3B8"/>
                </a:solidFill>
                <a:latin typeface="Helvetica Neue"/>
              </a:rPr>
              <a:t>ASHS · Agentic Self-Healing System</a:t>
            </a:r>
          </a:p>
        </p:txBody>
      </p:sp>
      <p:sp>
        <p:nvSpPr>
          <p:cNvPr id="6" name="TextBox 5"/>
          <p:cNvSpPr txBox="1"/>
          <p:nvPr/>
        </p:nvSpPr>
        <p:spPr>
          <a:xfrm>
            <a:off x="10500055" y="6382512"/>
            <a:ext cx="914400" cy="201168"/>
          </a:xfrm>
          <a:prstGeom prst="rect">
            <a:avLst/>
          </a:prstGeom>
          <a:noFill/>
        </p:spPr>
        <p:txBody>
          <a:bodyPr wrap="square" lIns="0" tIns="0" rIns="0" bIns="0" anchor="t">
            <a:spAutoFit/>
          </a:bodyPr>
          <a:lstStyle/>
          <a:p>
            <a:pPr algn="r">
              <a:lnSpc>
                <a:spcPct val="128000"/>
              </a:lnSpc>
              <a:spcAft>
                <a:spcPts val="0"/>
              </a:spcAft>
            </a:pPr>
            <a:r>
              <a:rPr sz="850" b="0" i="0">
                <a:solidFill>
                  <a:srgbClr val="94A3B8"/>
                </a:solidFill>
                <a:latin typeface="Helvetica Neue"/>
              </a:rPr>
              <a:t>20</a:t>
            </a:r>
          </a:p>
        </p:txBody>
      </p:sp>
      <p:sp>
        <p:nvSpPr>
          <p:cNvPr id="7" name="TextBox 6"/>
          <p:cNvSpPr txBox="1"/>
          <p:nvPr/>
        </p:nvSpPr>
        <p:spPr>
          <a:xfrm>
            <a:off x="777240" y="1600200"/>
            <a:ext cx="10637215" cy="274320"/>
          </a:xfrm>
          <a:prstGeom prst="rect">
            <a:avLst/>
          </a:prstGeom>
          <a:noFill/>
        </p:spPr>
        <p:txBody>
          <a:bodyPr wrap="square" lIns="0" tIns="0" rIns="0" bIns="0" anchor="t">
            <a:spAutoFit/>
          </a:bodyPr>
          <a:lstStyle/>
          <a:p>
            <a:pPr algn="l">
              <a:lnSpc>
                <a:spcPct val="128000"/>
              </a:lnSpc>
              <a:spcAft>
                <a:spcPts val="0"/>
              </a:spcAft>
            </a:pPr>
            <a:r>
              <a:rPr sz="1400" b="0" i="0">
                <a:solidFill>
                  <a:srgbClr val="64748B"/>
                </a:solidFill>
                <a:latin typeface="Helvetica Neue"/>
              </a:rPr>
              <a:t>Only worth attempting once everything before this is solid. Direction, not commitment.</a:t>
            </a:r>
          </a:p>
        </p:txBody>
      </p:sp>
      <p:sp>
        <p:nvSpPr>
          <p:cNvPr id="8" name="Rounded Rectangle 7"/>
          <p:cNvSpPr/>
          <p:nvPr/>
        </p:nvSpPr>
        <p:spPr>
          <a:xfrm>
            <a:off x="777240" y="2226564"/>
            <a:ext cx="68580" cy="68580"/>
          </a:xfrm>
          <a:prstGeom prst="roundRect">
            <a:avLst>
              <a:gd name="adj" fmla="val 50000"/>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2121408"/>
            <a:ext cx="10222992" cy="548640"/>
          </a:xfrm>
          <a:prstGeom prst="rect">
            <a:avLst/>
          </a:prstGeom>
          <a:noFill/>
        </p:spPr>
        <p:txBody>
          <a:bodyPr wrap="square" lIns="0" tIns="0" rIns="0" bIns="0" anchor="t">
            <a:spAutoFit/>
          </a:bodyPr>
          <a:lstStyle/>
          <a:p>
            <a:pPr algn="l">
              <a:lnSpc>
                <a:spcPct val="128000"/>
              </a:lnSpc>
              <a:spcAft>
                <a:spcPts val="0"/>
              </a:spcAft>
            </a:pPr>
            <a:r>
              <a:rPr sz="1450" b="0" i="0">
                <a:solidFill>
                  <a:srgbClr val="334155"/>
                </a:solidFill>
                <a:latin typeface="Helvetica Neue"/>
              </a:rPr>
              <a:t>Cross-incident learning — "this fingerprint class is always a missing null-guard in a BFF." Pattern libraries per fault family.</a:t>
            </a:r>
          </a:p>
        </p:txBody>
      </p:sp>
      <p:sp>
        <p:nvSpPr>
          <p:cNvPr id="10" name="Rounded Rectangle 9"/>
          <p:cNvSpPr/>
          <p:nvPr/>
        </p:nvSpPr>
        <p:spPr>
          <a:xfrm>
            <a:off x="777240" y="2921508"/>
            <a:ext cx="68580" cy="68580"/>
          </a:xfrm>
          <a:prstGeom prst="roundRect">
            <a:avLst>
              <a:gd name="adj" fmla="val 50000"/>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2816352"/>
            <a:ext cx="10222992" cy="548640"/>
          </a:xfrm>
          <a:prstGeom prst="rect">
            <a:avLst/>
          </a:prstGeom>
          <a:noFill/>
        </p:spPr>
        <p:txBody>
          <a:bodyPr wrap="square" lIns="0" tIns="0" rIns="0" bIns="0" anchor="t">
            <a:spAutoFit/>
          </a:bodyPr>
          <a:lstStyle/>
          <a:p>
            <a:pPr algn="l">
              <a:lnSpc>
                <a:spcPct val="128000"/>
              </a:lnSpc>
              <a:spcAft>
                <a:spcPts val="0"/>
              </a:spcAft>
            </a:pPr>
            <a:r>
              <a:rPr sz="1450" b="0" i="0">
                <a:solidFill>
                  <a:srgbClr val="334155"/>
                </a:solidFill>
                <a:latin typeface="Helvetica Neue"/>
              </a:rPr>
              <a:t>Preventive repair — run the same contract validation against a pre-merge build, and the violation never reaches production.</a:t>
            </a:r>
          </a:p>
        </p:txBody>
      </p:sp>
      <p:sp>
        <p:nvSpPr>
          <p:cNvPr id="12" name="Rounded Rectangle 11"/>
          <p:cNvSpPr/>
          <p:nvPr/>
        </p:nvSpPr>
        <p:spPr>
          <a:xfrm>
            <a:off x="777240" y="3616452"/>
            <a:ext cx="68580" cy="68580"/>
          </a:xfrm>
          <a:prstGeom prst="roundRect">
            <a:avLst>
              <a:gd name="adj" fmla="val 50000"/>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3511296"/>
            <a:ext cx="10222992" cy="548640"/>
          </a:xfrm>
          <a:prstGeom prst="rect">
            <a:avLst/>
          </a:prstGeom>
          <a:noFill/>
        </p:spPr>
        <p:txBody>
          <a:bodyPr wrap="square" lIns="0" tIns="0" rIns="0" bIns="0" anchor="t">
            <a:spAutoFit/>
          </a:bodyPr>
          <a:lstStyle/>
          <a:p>
            <a:pPr algn="l">
              <a:lnSpc>
                <a:spcPct val="128000"/>
              </a:lnSpc>
              <a:spcAft>
                <a:spcPts val="0"/>
              </a:spcAft>
            </a:pPr>
            <a:r>
              <a:rPr sz="1450" b="0" i="0">
                <a:solidFill>
                  <a:srgbClr val="334155"/>
                </a:solidFill>
                <a:latin typeface="Helvetica Neue"/>
              </a:rPr>
              <a:t>Coordinated multi-service repair — some fixes need a change on both sides of a boundary, with two owners approving.</a:t>
            </a:r>
          </a:p>
        </p:txBody>
      </p:sp>
      <p:sp>
        <p:nvSpPr>
          <p:cNvPr id="14" name="Rounded Rectangle 13"/>
          <p:cNvSpPr/>
          <p:nvPr/>
        </p:nvSpPr>
        <p:spPr>
          <a:xfrm>
            <a:off x="777240" y="4311396"/>
            <a:ext cx="68580" cy="68580"/>
          </a:xfrm>
          <a:prstGeom prst="roundRect">
            <a:avLst>
              <a:gd name="adj" fmla="val 50000"/>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8408" y="4206240"/>
            <a:ext cx="10222992" cy="548640"/>
          </a:xfrm>
          <a:prstGeom prst="rect">
            <a:avLst/>
          </a:prstGeom>
          <a:noFill/>
        </p:spPr>
        <p:txBody>
          <a:bodyPr wrap="square" lIns="0" tIns="0" rIns="0" bIns="0" anchor="t">
            <a:spAutoFit/>
          </a:bodyPr>
          <a:lstStyle/>
          <a:p>
            <a:pPr algn="l">
              <a:lnSpc>
                <a:spcPct val="128000"/>
              </a:lnSpc>
              <a:spcAft>
                <a:spcPts val="0"/>
              </a:spcAft>
            </a:pPr>
            <a:r>
              <a:rPr sz="1450" b="0" i="0">
                <a:solidFill>
                  <a:srgbClr val="334155"/>
                </a:solidFill>
                <a:latin typeface="Helvetica Neue"/>
              </a:rPr>
              <a:t>Explain it to the owner — generate the pull request description for the team that owns the code, in their vocabulary, evidence attached.</a:t>
            </a:r>
          </a:p>
        </p:txBody>
      </p:sp>
      <p:sp>
        <p:nvSpPr>
          <p:cNvPr id="16" name="Rounded Rectangle 15"/>
          <p:cNvSpPr/>
          <p:nvPr/>
        </p:nvSpPr>
        <p:spPr>
          <a:xfrm>
            <a:off x="777240" y="5006340"/>
            <a:ext cx="68580" cy="68580"/>
          </a:xfrm>
          <a:prstGeom prst="roundRect">
            <a:avLst>
              <a:gd name="adj" fmla="val 50000"/>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78408" y="4901183"/>
            <a:ext cx="10222992" cy="548640"/>
          </a:xfrm>
          <a:prstGeom prst="rect">
            <a:avLst/>
          </a:prstGeom>
          <a:noFill/>
        </p:spPr>
        <p:txBody>
          <a:bodyPr wrap="square" lIns="0" tIns="0" rIns="0" bIns="0" anchor="t">
            <a:spAutoFit/>
          </a:bodyPr>
          <a:lstStyle/>
          <a:p>
            <a:pPr algn="l">
              <a:lnSpc>
                <a:spcPct val="128000"/>
              </a:lnSpc>
              <a:spcAft>
                <a:spcPts val="0"/>
              </a:spcAft>
            </a:pPr>
            <a:r>
              <a:rPr sz="1450" b="0" i="0">
                <a:solidFill>
                  <a:srgbClr val="334155"/>
                </a:solidFill>
                <a:latin typeface="Helvetica Neue"/>
              </a:rPr>
              <a:t>Chaos-driven validation — continuously inject known faults in staging and assert the system still attributes them correctly. Regression testing for the attribution engine itself.</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77240" y="420624"/>
            <a:ext cx="10637215" cy="219456"/>
          </a:xfrm>
          <a:prstGeom prst="rect">
            <a:avLst/>
          </a:prstGeom>
          <a:noFill/>
        </p:spPr>
        <p:txBody>
          <a:bodyPr wrap="square" lIns="0" tIns="0" rIns="0" bIns="0" anchor="t">
            <a:spAutoFit/>
          </a:bodyPr>
          <a:lstStyle/>
          <a:p>
            <a:pPr algn="l">
              <a:lnSpc>
                <a:spcPct val="128000"/>
              </a:lnSpc>
              <a:spcAft>
                <a:spcPts val="0"/>
              </a:spcAft>
            </a:pPr>
            <a:r>
              <a:rPr sz="950" b="1" i="0" spc="160">
                <a:solidFill>
                  <a:srgbClr val="2F81F7"/>
                </a:solidFill>
                <a:latin typeface="Helvetica Neue"/>
              </a:rPr>
              <a:t>WHERE IT STANDS</a:t>
            </a:r>
          </a:p>
        </p:txBody>
      </p:sp>
      <p:sp>
        <p:nvSpPr>
          <p:cNvPr id="3" name="TextBox 2"/>
          <p:cNvSpPr txBox="1"/>
          <p:nvPr/>
        </p:nvSpPr>
        <p:spPr>
          <a:xfrm>
            <a:off x="777240" y="658368"/>
            <a:ext cx="10637215" cy="566928"/>
          </a:xfrm>
          <a:prstGeom prst="rect">
            <a:avLst/>
          </a:prstGeom>
          <a:noFill/>
        </p:spPr>
        <p:txBody>
          <a:bodyPr wrap="square" lIns="0" tIns="0" rIns="0" bIns="0" anchor="t">
            <a:spAutoFit/>
          </a:bodyPr>
          <a:lstStyle/>
          <a:p>
            <a:pPr algn="l">
              <a:lnSpc>
                <a:spcPct val="106000"/>
              </a:lnSpc>
              <a:spcAft>
                <a:spcPts val="0"/>
              </a:spcAft>
            </a:pPr>
            <a:r>
              <a:rPr sz="2900" b="1" i="0">
                <a:solidFill>
                  <a:srgbClr val="0F172A"/>
                </a:solidFill>
                <a:latin typeface="Helvetica Neue"/>
              </a:rPr>
              <a:t>What is proven today</a:t>
            </a:r>
          </a:p>
        </p:txBody>
      </p:sp>
      <p:sp>
        <p:nvSpPr>
          <p:cNvPr id="4" name="Rectangle 3"/>
          <p:cNvSpPr/>
          <p:nvPr/>
        </p:nvSpPr>
        <p:spPr>
          <a:xfrm>
            <a:off x="777240" y="1316736"/>
            <a:ext cx="1051560" cy="25400"/>
          </a:xfrm>
          <a:prstGeom prst="rect">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6382512"/>
            <a:ext cx="5486400" cy="201168"/>
          </a:xfrm>
          <a:prstGeom prst="rect">
            <a:avLst/>
          </a:prstGeom>
          <a:noFill/>
        </p:spPr>
        <p:txBody>
          <a:bodyPr wrap="square" lIns="0" tIns="0" rIns="0" bIns="0" anchor="t">
            <a:spAutoFit/>
          </a:bodyPr>
          <a:lstStyle/>
          <a:p>
            <a:pPr algn="l">
              <a:lnSpc>
                <a:spcPct val="128000"/>
              </a:lnSpc>
              <a:spcAft>
                <a:spcPts val="0"/>
              </a:spcAft>
            </a:pPr>
            <a:r>
              <a:rPr sz="850" b="0" i="0">
                <a:solidFill>
                  <a:srgbClr val="94A3B8"/>
                </a:solidFill>
                <a:latin typeface="Helvetica Neue"/>
              </a:rPr>
              <a:t>ASHS · Agentic Self-Healing System</a:t>
            </a:r>
          </a:p>
        </p:txBody>
      </p:sp>
      <p:sp>
        <p:nvSpPr>
          <p:cNvPr id="6" name="TextBox 5"/>
          <p:cNvSpPr txBox="1"/>
          <p:nvPr/>
        </p:nvSpPr>
        <p:spPr>
          <a:xfrm>
            <a:off x="10500055" y="6382512"/>
            <a:ext cx="914400" cy="201168"/>
          </a:xfrm>
          <a:prstGeom prst="rect">
            <a:avLst/>
          </a:prstGeom>
          <a:noFill/>
        </p:spPr>
        <p:txBody>
          <a:bodyPr wrap="square" lIns="0" tIns="0" rIns="0" bIns="0" anchor="t">
            <a:spAutoFit/>
          </a:bodyPr>
          <a:lstStyle/>
          <a:p>
            <a:pPr algn="r">
              <a:lnSpc>
                <a:spcPct val="128000"/>
              </a:lnSpc>
              <a:spcAft>
                <a:spcPts val="0"/>
              </a:spcAft>
            </a:pPr>
            <a:r>
              <a:rPr sz="850" b="0" i="0">
                <a:solidFill>
                  <a:srgbClr val="94A3B8"/>
                </a:solidFill>
                <a:latin typeface="Helvetica Neue"/>
              </a:rPr>
              <a:t>21</a:t>
            </a:r>
          </a:p>
        </p:txBody>
      </p:sp>
      <p:sp>
        <p:nvSpPr>
          <p:cNvPr id="7" name="TextBox 6"/>
          <p:cNvSpPr txBox="1"/>
          <p:nvPr/>
        </p:nvSpPr>
        <p:spPr>
          <a:xfrm>
            <a:off x="777240" y="1691640"/>
            <a:ext cx="3200400"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Phase</a:t>
            </a:r>
          </a:p>
        </p:txBody>
      </p:sp>
      <p:sp>
        <p:nvSpPr>
          <p:cNvPr id="8" name="TextBox 7"/>
          <p:cNvSpPr txBox="1"/>
          <p:nvPr/>
        </p:nvSpPr>
        <p:spPr>
          <a:xfrm>
            <a:off x="3977639" y="1691640"/>
            <a:ext cx="1188720"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Checks</a:t>
            </a:r>
          </a:p>
        </p:txBody>
      </p:sp>
      <p:sp>
        <p:nvSpPr>
          <p:cNvPr id="9" name="TextBox 8"/>
          <p:cNvSpPr txBox="1"/>
          <p:nvPr/>
        </p:nvSpPr>
        <p:spPr>
          <a:xfrm>
            <a:off x="5166359" y="1691640"/>
            <a:ext cx="6400800"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What it proves</a:t>
            </a:r>
          </a:p>
        </p:txBody>
      </p:sp>
      <p:sp>
        <p:nvSpPr>
          <p:cNvPr id="10" name="Rectangle 9"/>
          <p:cNvSpPr/>
          <p:nvPr/>
        </p:nvSpPr>
        <p:spPr>
          <a:xfrm>
            <a:off x="777240" y="1984248"/>
            <a:ext cx="107899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112264"/>
            <a:ext cx="305409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0 — harness</a:t>
            </a:r>
          </a:p>
        </p:txBody>
      </p:sp>
      <p:sp>
        <p:nvSpPr>
          <p:cNvPr id="12" name="TextBox 11"/>
          <p:cNvSpPr txBox="1"/>
          <p:nvPr/>
        </p:nvSpPr>
        <p:spPr>
          <a:xfrm>
            <a:off x="3977639" y="2112264"/>
            <a:ext cx="104241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13</a:t>
            </a:r>
          </a:p>
        </p:txBody>
      </p:sp>
      <p:sp>
        <p:nvSpPr>
          <p:cNvPr id="13" name="TextBox 12"/>
          <p:cNvSpPr txBox="1"/>
          <p:nvPr/>
        </p:nvSpPr>
        <p:spPr>
          <a:xfrm>
            <a:off x="5166359" y="2112264"/>
            <a:ext cx="625449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One calculation produces one trace across three services</a:t>
            </a:r>
          </a:p>
        </p:txBody>
      </p:sp>
      <p:sp>
        <p:nvSpPr>
          <p:cNvPr id="14" name="Rectangle 13"/>
          <p:cNvSpPr/>
          <p:nvPr/>
        </p:nvSpPr>
        <p:spPr>
          <a:xfrm>
            <a:off x="667512" y="2505456"/>
            <a:ext cx="11009376" cy="438912"/>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2569464"/>
            <a:ext cx="305409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1 — detect and attribute</a:t>
            </a:r>
          </a:p>
        </p:txBody>
      </p:sp>
      <p:sp>
        <p:nvSpPr>
          <p:cNvPr id="16" name="TextBox 15"/>
          <p:cNvSpPr txBox="1"/>
          <p:nvPr/>
        </p:nvSpPr>
        <p:spPr>
          <a:xfrm>
            <a:off x="3977639" y="2569464"/>
            <a:ext cx="104241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9</a:t>
            </a:r>
          </a:p>
        </p:txBody>
      </p:sp>
      <p:sp>
        <p:nvSpPr>
          <p:cNvPr id="17" name="TextBox 16"/>
          <p:cNvSpPr txBox="1"/>
          <p:nvPr/>
        </p:nvSpPr>
        <p:spPr>
          <a:xfrm>
            <a:off x="5166359" y="2569464"/>
            <a:ext cx="6254496" cy="512064"/>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cfc-product at 0.92, both capabilities exonerated, no model involved</a:t>
            </a:r>
          </a:p>
        </p:txBody>
      </p:sp>
      <p:sp>
        <p:nvSpPr>
          <p:cNvPr id="18" name="TextBox 17"/>
          <p:cNvSpPr txBox="1"/>
          <p:nvPr/>
        </p:nvSpPr>
        <p:spPr>
          <a:xfrm>
            <a:off x="777240" y="3026664"/>
            <a:ext cx="305409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2 — plan and gate</a:t>
            </a:r>
          </a:p>
        </p:txBody>
      </p:sp>
      <p:sp>
        <p:nvSpPr>
          <p:cNvPr id="19" name="TextBox 18"/>
          <p:cNvSpPr txBox="1"/>
          <p:nvPr/>
        </p:nvSpPr>
        <p:spPr>
          <a:xfrm>
            <a:off x="3977639" y="3026664"/>
            <a:ext cx="104241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13</a:t>
            </a:r>
          </a:p>
        </p:txBody>
      </p:sp>
      <p:sp>
        <p:nvSpPr>
          <p:cNvPr id="20" name="TextBox 19"/>
          <p:cNvSpPr txBox="1"/>
          <p:nvPr/>
        </p:nvSpPr>
        <p:spPr>
          <a:xfrm>
            <a:off x="5166359" y="3026664"/>
            <a:ext cx="625449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Plan reaches approval; five guardrails proven to refuse</a:t>
            </a:r>
          </a:p>
        </p:txBody>
      </p:sp>
      <p:sp>
        <p:nvSpPr>
          <p:cNvPr id="21" name="Rectangle 20"/>
          <p:cNvSpPr/>
          <p:nvPr/>
        </p:nvSpPr>
        <p:spPr>
          <a:xfrm>
            <a:off x="667512" y="3419856"/>
            <a:ext cx="11009376" cy="438912"/>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 y="3483864"/>
            <a:ext cx="3054096" cy="256032"/>
          </a:xfrm>
          <a:prstGeom prst="rect">
            <a:avLst/>
          </a:prstGeom>
          <a:noFill/>
        </p:spPr>
        <p:txBody>
          <a:bodyPr wrap="square" lIns="0" tIns="0" rIns="0" bIns="0" anchor="t">
            <a:spAutoFit/>
          </a:bodyPr>
          <a:lstStyle/>
          <a:p>
            <a:pPr algn="l">
              <a:lnSpc>
                <a:spcPct val="118000"/>
              </a:lnSpc>
              <a:spcAft>
                <a:spcPts val="0"/>
              </a:spcAft>
            </a:pPr>
            <a:r>
              <a:rPr sz="1300" b="0" i="0">
                <a:solidFill>
                  <a:srgbClr val="0F172A"/>
                </a:solidFill>
                <a:latin typeface="Helvetica Neue"/>
              </a:rPr>
              <a:t>3 — repair and revert</a:t>
            </a:r>
          </a:p>
        </p:txBody>
      </p:sp>
      <p:sp>
        <p:nvSpPr>
          <p:cNvPr id="23" name="TextBox 22"/>
          <p:cNvSpPr txBox="1"/>
          <p:nvPr/>
        </p:nvSpPr>
        <p:spPr>
          <a:xfrm>
            <a:off x="3977639" y="3483864"/>
            <a:ext cx="104241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10</a:t>
            </a:r>
          </a:p>
        </p:txBody>
      </p:sp>
      <p:sp>
        <p:nvSpPr>
          <p:cNvPr id="24" name="TextBox 23"/>
          <p:cNvSpPr txBox="1"/>
          <p:nvPr/>
        </p:nvSpPr>
        <p:spPr>
          <a:xfrm>
            <a:off x="5166359" y="3483864"/>
            <a:ext cx="6254496" cy="256032"/>
          </a:xfrm>
          <a:prstGeom prst="rect">
            <a:avLst/>
          </a:prstGeom>
          <a:noFill/>
        </p:spPr>
        <p:txBody>
          <a:bodyPr wrap="square" lIns="0" tIns="0" rIns="0" bIns="0" anchor="t">
            <a:spAutoFit/>
          </a:bodyPr>
          <a:lstStyle/>
          <a:p>
            <a:pPr algn="l">
              <a:lnSpc>
                <a:spcPct val="118000"/>
              </a:lnSpc>
              <a:spcAft>
                <a:spcPts val="0"/>
              </a:spcAft>
            </a:pPr>
            <a:r>
              <a:rPr sz="1300" b="0" i="0">
                <a:solidFill>
                  <a:srgbClr val="334155"/>
                </a:solidFill>
                <a:latin typeface="Helvetica Neue"/>
              </a:rPr>
              <a:t>Repair lands; a forced failure reverts byte for byte</a:t>
            </a:r>
          </a:p>
        </p:txBody>
      </p:sp>
      <p:sp>
        <p:nvSpPr>
          <p:cNvPr id="25" name="Rectangle 24"/>
          <p:cNvSpPr/>
          <p:nvPr/>
        </p:nvSpPr>
        <p:spPr>
          <a:xfrm>
            <a:off x="777240" y="4169664"/>
            <a:ext cx="10637215" cy="685800"/>
          </a:xfrm>
          <a:prstGeom prst="rect">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77240" y="4169664"/>
            <a:ext cx="41148" cy="68580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33271" y="4169664"/>
            <a:ext cx="10180015" cy="685800"/>
          </a:xfrm>
          <a:prstGeom prst="rect">
            <a:avLst/>
          </a:prstGeom>
          <a:noFill/>
        </p:spPr>
        <p:txBody>
          <a:bodyPr wrap="square" lIns="0" tIns="0" rIns="0" bIns="0" anchor="ctr">
            <a:spAutoFit/>
          </a:bodyPr>
          <a:lstStyle/>
          <a:p>
            <a:pPr algn="l">
              <a:lnSpc>
                <a:spcPct val="124000"/>
              </a:lnSpc>
              <a:spcAft>
                <a:spcPts val="0"/>
              </a:spcAft>
            </a:pPr>
            <a:r>
              <a:rPr sz="1550" b="1" i="0">
                <a:solidFill>
                  <a:srgbClr val="0F172A"/>
                </a:solidFill>
                <a:latin typeface="Helvetica Neue"/>
              </a:rPr>
              <a:t>45 of 45 passing. Three consecutive clean runs from a full reset — 20 to 23 seconds to boot, 85 to 90 seconds for the repair loop.</a:t>
            </a:r>
          </a:p>
        </p:txBody>
      </p:sp>
      <p:sp>
        <p:nvSpPr>
          <p:cNvPr id="28" name="TextBox 27"/>
          <p:cNvSpPr txBox="1"/>
          <p:nvPr/>
        </p:nvSpPr>
        <p:spPr>
          <a:xfrm>
            <a:off x="777240" y="5175504"/>
            <a:ext cx="10637215" cy="640080"/>
          </a:xfrm>
          <a:prstGeom prst="rect">
            <a:avLst/>
          </a:prstGeom>
          <a:noFill/>
        </p:spPr>
        <p:txBody>
          <a:bodyPr wrap="square" lIns="0" tIns="0" rIns="0" bIns="0" anchor="t">
            <a:spAutoFit/>
          </a:bodyPr>
          <a:lstStyle/>
          <a:p>
            <a:pPr algn="l">
              <a:lnSpc>
                <a:spcPct val="130000"/>
              </a:lnSpc>
              <a:spcAft>
                <a:spcPts val="0"/>
              </a:spcAft>
            </a:pPr>
            <a:r>
              <a:rPr sz="1800" b="0" i="1">
                <a:solidFill>
                  <a:srgbClr val="0F172A"/>
                </a:solidFill>
                <a:latin typeface="Helvetica Neue"/>
              </a:rPr>
              <a:t>"The fix was never the hard part. Knowing whose it was, being allowed to make it, and proving it worked — that is the product."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77240" y="420624"/>
            <a:ext cx="10637215" cy="219456"/>
          </a:xfrm>
          <a:prstGeom prst="rect">
            <a:avLst/>
          </a:prstGeom>
          <a:noFill/>
        </p:spPr>
        <p:txBody>
          <a:bodyPr wrap="square" lIns="0" tIns="0" rIns="0" bIns="0" anchor="t">
            <a:spAutoFit/>
          </a:bodyPr>
          <a:lstStyle/>
          <a:p>
            <a:pPr algn="l">
              <a:lnSpc>
                <a:spcPct val="128000"/>
              </a:lnSpc>
              <a:spcAft>
                <a:spcPts val="0"/>
              </a:spcAft>
            </a:pPr>
            <a:r>
              <a:rPr sz="950" b="1" i="0" spc="160">
                <a:solidFill>
                  <a:srgbClr val="2F81F7"/>
                </a:solidFill>
                <a:latin typeface="Helvetica Neue"/>
              </a:rPr>
              <a:t>APPENDIX</a:t>
            </a:r>
          </a:p>
        </p:txBody>
      </p:sp>
      <p:sp>
        <p:nvSpPr>
          <p:cNvPr id="3" name="TextBox 2"/>
          <p:cNvSpPr txBox="1"/>
          <p:nvPr/>
        </p:nvSpPr>
        <p:spPr>
          <a:xfrm>
            <a:off x="777240" y="658368"/>
            <a:ext cx="10637215" cy="566928"/>
          </a:xfrm>
          <a:prstGeom prst="rect">
            <a:avLst/>
          </a:prstGeom>
          <a:noFill/>
        </p:spPr>
        <p:txBody>
          <a:bodyPr wrap="square" lIns="0" tIns="0" rIns="0" bIns="0" anchor="t">
            <a:spAutoFit/>
          </a:bodyPr>
          <a:lstStyle/>
          <a:p>
            <a:pPr algn="l">
              <a:lnSpc>
                <a:spcPct val="106000"/>
              </a:lnSpc>
              <a:spcAft>
                <a:spcPts val="0"/>
              </a:spcAft>
            </a:pPr>
            <a:r>
              <a:rPr sz="2900" b="1" i="0">
                <a:solidFill>
                  <a:srgbClr val="0F172A"/>
                </a:solidFill>
                <a:latin typeface="Helvetica Neue"/>
              </a:rPr>
              <a:t>Commands, and the questions you will get</a:t>
            </a:r>
          </a:p>
        </p:txBody>
      </p:sp>
      <p:sp>
        <p:nvSpPr>
          <p:cNvPr id="4" name="Rectangle 3"/>
          <p:cNvSpPr/>
          <p:nvPr/>
        </p:nvSpPr>
        <p:spPr>
          <a:xfrm>
            <a:off x="777240" y="1316736"/>
            <a:ext cx="1051560" cy="25400"/>
          </a:xfrm>
          <a:prstGeom prst="rect">
            <a:avLst/>
          </a:prstGeom>
          <a:solidFill>
            <a:srgbClr val="2F8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6382512"/>
            <a:ext cx="5486400" cy="201168"/>
          </a:xfrm>
          <a:prstGeom prst="rect">
            <a:avLst/>
          </a:prstGeom>
          <a:noFill/>
        </p:spPr>
        <p:txBody>
          <a:bodyPr wrap="square" lIns="0" tIns="0" rIns="0" bIns="0" anchor="t">
            <a:spAutoFit/>
          </a:bodyPr>
          <a:lstStyle/>
          <a:p>
            <a:pPr algn="l">
              <a:lnSpc>
                <a:spcPct val="128000"/>
              </a:lnSpc>
              <a:spcAft>
                <a:spcPts val="0"/>
              </a:spcAft>
            </a:pPr>
            <a:r>
              <a:rPr sz="850" b="0" i="0">
                <a:solidFill>
                  <a:srgbClr val="94A3B8"/>
                </a:solidFill>
                <a:latin typeface="Helvetica Neue"/>
              </a:rPr>
              <a:t>ASHS · Agentic Self-Healing System</a:t>
            </a:r>
          </a:p>
        </p:txBody>
      </p:sp>
      <p:sp>
        <p:nvSpPr>
          <p:cNvPr id="6" name="TextBox 5"/>
          <p:cNvSpPr txBox="1"/>
          <p:nvPr/>
        </p:nvSpPr>
        <p:spPr>
          <a:xfrm>
            <a:off x="10500055" y="6382512"/>
            <a:ext cx="914400" cy="201168"/>
          </a:xfrm>
          <a:prstGeom prst="rect">
            <a:avLst/>
          </a:prstGeom>
          <a:noFill/>
        </p:spPr>
        <p:txBody>
          <a:bodyPr wrap="square" lIns="0" tIns="0" rIns="0" bIns="0" anchor="t">
            <a:spAutoFit/>
          </a:bodyPr>
          <a:lstStyle/>
          <a:p>
            <a:pPr algn="r">
              <a:lnSpc>
                <a:spcPct val="128000"/>
              </a:lnSpc>
              <a:spcAft>
                <a:spcPts val="0"/>
              </a:spcAft>
            </a:pPr>
            <a:r>
              <a:rPr sz="850" b="0" i="0">
                <a:solidFill>
                  <a:srgbClr val="94A3B8"/>
                </a:solidFill>
                <a:latin typeface="Helvetica Neue"/>
              </a:rPr>
              <a:t>22</a:t>
            </a:r>
          </a:p>
        </p:txBody>
      </p:sp>
      <p:sp>
        <p:nvSpPr>
          <p:cNvPr id="7" name="Rounded Rectangle 6"/>
          <p:cNvSpPr/>
          <p:nvPr/>
        </p:nvSpPr>
        <p:spPr>
          <a:xfrm>
            <a:off x="777240" y="1645920"/>
            <a:ext cx="4937760" cy="1724024"/>
          </a:xfrm>
          <a:prstGeom prst="roundRect">
            <a:avLst>
              <a:gd name="adj" fmla="val 6000"/>
            </a:avLst>
          </a:prstGeom>
          <a:solidFill>
            <a:srgbClr val="F6F8FA"/>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828800"/>
            <a:ext cx="4572000" cy="1358265"/>
          </a:xfrm>
          <a:prstGeom prst="rect">
            <a:avLst/>
          </a:prstGeom>
          <a:noFill/>
        </p:spPr>
        <p:txBody>
          <a:bodyPr wrap="square" lIns="0" tIns="0" rIns="0" bIns="0" anchor="t">
            <a:spAutoFit/>
          </a:bodyPr>
          <a:lstStyle/>
          <a:p>
            <a:pPr algn="l">
              <a:lnSpc>
                <a:spcPct val="135000"/>
              </a:lnSpc>
              <a:spcAft>
                <a:spcPts val="0"/>
              </a:spcAft>
            </a:pPr>
            <a:r>
              <a:rPr sz="1150" b="0" i="0">
                <a:solidFill>
                  <a:srgbClr val="334155"/>
                </a:solidFill>
                <a:latin typeface="Menlo"/>
              </a:rPr>
              <a:t>make demo-prep     # restores source, keeps history</a:t>
            </a:r>
          </a:p>
          <a:p>
            <a:pPr algn="l">
              <a:lnSpc>
                <a:spcPct val="135000"/>
              </a:lnSpc>
              <a:spcAft>
                <a:spcPts val="0"/>
              </a:spcAft>
            </a:pPr>
            <a:r>
              <a:rPr sz="1150" b="0" i="0">
                <a:solidFill>
                  <a:srgbClr val="334155"/>
                </a:solidFill>
                <a:latin typeface="Menlo"/>
              </a:rPr>
              <a:t>make demo          # both acts, 1m47s</a:t>
            </a:r>
          </a:p>
          <a:p>
            <a:pPr algn="l">
              <a:lnSpc>
                <a:spcPct val="135000"/>
              </a:lnSpc>
              <a:spcAft>
                <a:spcPts val="0"/>
              </a:spcAft>
            </a:pPr>
            <a:r>
              <a:rPr sz="1150" b="0" i="0">
                <a:solidFill>
                  <a:srgbClr val="334155"/>
                </a:solidFill>
                <a:latin typeface="Menlo"/>
              </a:rPr>
              <a:t>ACT=1 make demo    # the repair only</a:t>
            </a:r>
          </a:p>
          <a:p>
            <a:pPr algn="l">
              <a:lnSpc>
                <a:spcPct val="135000"/>
              </a:lnSpc>
              <a:spcAft>
                <a:spcPts val="0"/>
              </a:spcAft>
            </a:pPr>
            <a:r>
              <a:rPr sz="1150" b="0" i="0">
                <a:solidFill>
                  <a:srgbClr val="334155"/>
                </a:solidFill>
                <a:latin typeface="Menlo"/>
              </a:rPr>
              <a:t>ACT=2 make demo    # the attribution only</a:t>
            </a:r>
          </a:p>
          <a:p>
            <a:pPr algn="l">
              <a:lnSpc>
                <a:spcPct val="135000"/>
              </a:lnSpc>
              <a:spcAft>
                <a:spcPts val="0"/>
              </a:spcAft>
            </a:pPr>
            <a:r>
              <a:rPr sz="1150" b="0" i="0">
                <a:solidFill>
                  <a:srgbClr val="334155"/>
                </a:solidFill>
                <a:latin typeface="Menlo"/>
              </a:rPr>
              <a:t>make verify        # 45 checks</a:t>
            </a:r>
          </a:p>
          <a:p>
            <a:pPr algn="l">
              <a:lnSpc>
                <a:spcPct val="135000"/>
              </a:lnSpc>
              <a:spcAft>
                <a:spcPts val="0"/>
              </a:spcAft>
            </a:pPr>
            <a:r>
              <a:rPr sz="1150" b="0" i="0">
                <a:solidFill>
                  <a:srgbClr val="334155"/>
                </a:solidFill>
                <a:latin typeface="Menlo"/>
              </a:rPr>
              <a:t>make demo-rollback # forced failure -&gt; revert</a:t>
            </a:r>
          </a:p>
        </p:txBody>
      </p:sp>
      <p:sp>
        <p:nvSpPr>
          <p:cNvPr id="9" name="TextBox 8"/>
          <p:cNvSpPr txBox="1"/>
          <p:nvPr/>
        </p:nvSpPr>
        <p:spPr>
          <a:xfrm>
            <a:off x="777240" y="3977639"/>
            <a:ext cx="4937760" cy="548640"/>
          </a:xfrm>
          <a:prstGeom prst="rect">
            <a:avLst/>
          </a:prstGeom>
          <a:noFill/>
        </p:spPr>
        <p:txBody>
          <a:bodyPr wrap="square" lIns="0" tIns="0" rIns="0" bIns="0" anchor="t">
            <a:spAutoFit/>
          </a:bodyPr>
          <a:lstStyle/>
          <a:p>
            <a:pPr algn="l">
              <a:lnSpc>
                <a:spcPct val="128000"/>
              </a:lnSpc>
              <a:spcAft>
                <a:spcPts val="0"/>
              </a:spcAft>
            </a:pPr>
            <a:r>
              <a:rPr sz="1200" b="0" i="0">
                <a:solidFill>
                  <a:srgbClr val="B91C1C"/>
                </a:solidFill>
                <a:latin typeface="Helvetica Neue"/>
              </a:rPr>
              <a:t>Never run make reset, clear-incidents or three-runs with an audience watching — each one blanks the dashboard.</a:t>
            </a:r>
          </a:p>
        </p:txBody>
      </p:sp>
      <p:sp>
        <p:nvSpPr>
          <p:cNvPr id="10" name="TextBox 9"/>
          <p:cNvSpPr txBox="1"/>
          <p:nvPr/>
        </p:nvSpPr>
        <p:spPr>
          <a:xfrm>
            <a:off x="6172200" y="1645920"/>
            <a:ext cx="2377440"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Question</a:t>
            </a:r>
          </a:p>
        </p:txBody>
      </p:sp>
      <p:sp>
        <p:nvSpPr>
          <p:cNvPr id="11" name="TextBox 10"/>
          <p:cNvSpPr txBox="1"/>
          <p:nvPr/>
        </p:nvSpPr>
        <p:spPr>
          <a:xfrm>
            <a:off x="8549640" y="1645920"/>
            <a:ext cx="2834640" cy="237744"/>
          </a:xfrm>
          <a:prstGeom prst="rect">
            <a:avLst/>
          </a:prstGeom>
          <a:noFill/>
        </p:spPr>
        <p:txBody>
          <a:bodyPr wrap="square" lIns="0" tIns="0" rIns="0" bIns="0" anchor="t">
            <a:spAutoFit/>
          </a:bodyPr>
          <a:lstStyle/>
          <a:p>
            <a:pPr algn="l">
              <a:lnSpc>
                <a:spcPct val="128000"/>
              </a:lnSpc>
              <a:spcAft>
                <a:spcPts val="0"/>
              </a:spcAft>
            </a:pPr>
            <a:r>
              <a:rPr sz="950" b="1" i="0" spc="120">
                <a:solidFill>
                  <a:srgbClr val="64748B"/>
                </a:solidFill>
                <a:latin typeface="Helvetica Neue"/>
              </a:rPr>
              <a:t>Answer</a:t>
            </a:r>
          </a:p>
        </p:txBody>
      </p:sp>
      <p:sp>
        <p:nvSpPr>
          <p:cNvPr id="12" name="Rectangle 11"/>
          <p:cNvSpPr/>
          <p:nvPr/>
        </p:nvSpPr>
        <p:spPr>
          <a:xfrm>
            <a:off x="6172200" y="1938528"/>
            <a:ext cx="521208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172200" y="2066544"/>
            <a:ext cx="2231136" cy="512064"/>
          </a:xfrm>
          <a:prstGeom prst="rect">
            <a:avLst/>
          </a:prstGeom>
          <a:noFill/>
        </p:spPr>
        <p:txBody>
          <a:bodyPr wrap="square" lIns="0" tIns="0" rIns="0" bIns="0" anchor="t">
            <a:spAutoFit/>
          </a:bodyPr>
          <a:lstStyle/>
          <a:p>
            <a:pPr algn="l">
              <a:lnSpc>
                <a:spcPct val="118000"/>
              </a:lnSpc>
              <a:spcAft>
                <a:spcPts val="0"/>
              </a:spcAft>
            </a:pPr>
            <a:r>
              <a:rPr sz="1150" b="0" i="0">
                <a:solidFill>
                  <a:srgbClr val="0F172A"/>
                </a:solidFill>
                <a:latin typeface="Helvetica Neue"/>
              </a:rPr>
              <a:t>Did the model pick the owner?</a:t>
            </a:r>
          </a:p>
        </p:txBody>
      </p:sp>
      <p:sp>
        <p:nvSpPr>
          <p:cNvPr id="14" name="TextBox 13"/>
          <p:cNvSpPr txBox="1"/>
          <p:nvPr/>
        </p:nvSpPr>
        <p:spPr>
          <a:xfrm>
            <a:off x="8549640" y="2066544"/>
            <a:ext cx="2688336" cy="512064"/>
          </a:xfrm>
          <a:prstGeom prst="rect">
            <a:avLst/>
          </a:prstGeom>
          <a:noFill/>
        </p:spPr>
        <p:txBody>
          <a:bodyPr wrap="square" lIns="0" tIns="0" rIns="0" bIns="0" anchor="t">
            <a:spAutoFit/>
          </a:bodyPr>
          <a:lstStyle/>
          <a:p>
            <a:pPr algn="l">
              <a:lnSpc>
                <a:spcPct val="118000"/>
              </a:lnSpc>
              <a:spcAft>
                <a:spcPts val="0"/>
              </a:spcAft>
            </a:pPr>
            <a:r>
              <a:rPr sz="1150" b="0" i="0">
                <a:solidFill>
                  <a:srgbClr val="334155"/>
                </a:solidFill>
                <a:latin typeface="Helvetica Neue"/>
              </a:rPr>
              <a:t>No. The tests assert zero model calls through attribution.</a:t>
            </a:r>
          </a:p>
        </p:txBody>
      </p:sp>
      <p:sp>
        <p:nvSpPr>
          <p:cNvPr id="15" name="Rectangle 14"/>
          <p:cNvSpPr/>
          <p:nvPr/>
        </p:nvSpPr>
        <p:spPr>
          <a:xfrm>
            <a:off x="6062472" y="2715768"/>
            <a:ext cx="5431536" cy="694944"/>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72200" y="2779776"/>
            <a:ext cx="2231136" cy="256032"/>
          </a:xfrm>
          <a:prstGeom prst="rect">
            <a:avLst/>
          </a:prstGeom>
          <a:noFill/>
        </p:spPr>
        <p:txBody>
          <a:bodyPr wrap="square" lIns="0" tIns="0" rIns="0" bIns="0" anchor="t">
            <a:spAutoFit/>
          </a:bodyPr>
          <a:lstStyle/>
          <a:p>
            <a:pPr algn="l">
              <a:lnSpc>
                <a:spcPct val="118000"/>
              </a:lnSpc>
              <a:spcAft>
                <a:spcPts val="0"/>
              </a:spcAft>
            </a:pPr>
            <a:r>
              <a:rPr sz="1150" b="0" i="0">
                <a:solidFill>
                  <a:srgbClr val="0F172A"/>
                </a:solidFill>
                <a:latin typeface="Helvetica Neue"/>
              </a:rPr>
              <a:t>What if it's wrong?</a:t>
            </a:r>
          </a:p>
        </p:txBody>
      </p:sp>
      <p:sp>
        <p:nvSpPr>
          <p:cNvPr id="17" name="TextBox 16"/>
          <p:cNvSpPr txBox="1"/>
          <p:nvPr/>
        </p:nvSpPr>
        <p:spPr>
          <a:xfrm>
            <a:off x="8549640" y="2779776"/>
            <a:ext cx="2688336" cy="768096"/>
          </a:xfrm>
          <a:prstGeom prst="rect">
            <a:avLst/>
          </a:prstGeom>
          <a:noFill/>
        </p:spPr>
        <p:txBody>
          <a:bodyPr wrap="square" lIns="0" tIns="0" rIns="0" bIns="0" anchor="t">
            <a:spAutoFit/>
          </a:bodyPr>
          <a:lstStyle/>
          <a:p>
            <a:pPr algn="l">
              <a:lnSpc>
                <a:spcPct val="118000"/>
              </a:lnSpc>
              <a:spcAft>
                <a:spcPts val="0"/>
              </a:spcAft>
            </a:pPr>
            <a:r>
              <a:rPr sz="1150" b="0" i="0">
                <a:solidFill>
                  <a:srgbClr val="334155"/>
                </a:solidFill>
                <a:latin typeface="Helvetica Neue"/>
              </a:rPr>
              <a:t>Below 0.85 it asks. Below 0.60 it refuses. Bad patch reverts byte for byte.</a:t>
            </a:r>
          </a:p>
        </p:txBody>
      </p:sp>
      <p:sp>
        <p:nvSpPr>
          <p:cNvPr id="18" name="TextBox 17"/>
          <p:cNvSpPr txBox="1"/>
          <p:nvPr/>
        </p:nvSpPr>
        <p:spPr>
          <a:xfrm>
            <a:off x="6172200" y="3493008"/>
            <a:ext cx="2231136" cy="512064"/>
          </a:xfrm>
          <a:prstGeom prst="rect">
            <a:avLst/>
          </a:prstGeom>
          <a:noFill/>
        </p:spPr>
        <p:txBody>
          <a:bodyPr wrap="square" lIns="0" tIns="0" rIns="0" bIns="0" anchor="t">
            <a:spAutoFit/>
          </a:bodyPr>
          <a:lstStyle/>
          <a:p>
            <a:pPr algn="l">
              <a:lnSpc>
                <a:spcPct val="118000"/>
              </a:lnSpc>
              <a:spcAft>
                <a:spcPts val="0"/>
              </a:spcAft>
            </a:pPr>
            <a:r>
              <a:rPr sz="1150" b="0" i="0">
                <a:solidFill>
                  <a:srgbClr val="0F172A"/>
                </a:solidFill>
                <a:latin typeface="Helvetica Neue"/>
              </a:rPr>
              <a:t>Can I tune the thresholds?</a:t>
            </a:r>
          </a:p>
        </p:txBody>
      </p:sp>
      <p:sp>
        <p:nvSpPr>
          <p:cNvPr id="19" name="TextBox 18"/>
          <p:cNvSpPr txBox="1"/>
          <p:nvPr/>
        </p:nvSpPr>
        <p:spPr>
          <a:xfrm>
            <a:off x="8549640" y="3493008"/>
            <a:ext cx="2688336" cy="768096"/>
          </a:xfrm>
          <a:prstGeom prst="rect">
            <a:avLst/>
          </a:prstGeom>
          <a:noFill/>
        </p:spPr>
        <p:txBody>
          <a:bodyPr wrap="square" lIns="0" tIns="0" rIns="0" bIns="0" anchor="t">
            <a:spAutoFit/>
          </a:bodyPr>
          <a:lstStyle/>
          <a:p>
            <a:pPr algn="l">
              <a:lnSpc>
                <a:spcPct val="118000"/>
              </a:lnSpc>
              <a:spcAft>
                <a:spcPts val="0"/>
              </a:spcAft>
            </a:pPr>
            <a:r>
              <a:rPr sz="1150" b="0" i="0">
                <a:solidFill>
                  <a:srgbClr val="334155"/>
                </a:solidFill>
                <a:latin typeface="Helvetica Neue"/>
              </a:rPr>
              <a:t>Floors yes, in three places. Signal weights are code, deliberately.</a:t>
            </a:r>
          </a:p>
        </p:txBody>
      </p:sp>
      <p:sp>
        <p:nvSpPr>
          <p:cNvPr id="20" name="Rectangle 19"/>
          <p:cNvSpPr/>
          <p:nvPr/>
        </p:nvSpPr>
        <p:spPr>
          <a:xfrm>
            <a:off x="6062472" y="4142232"/>
            <a:ext cx="5431536" cy="694944"/>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72200" y="4206240"/>
            <a:ext cx="2231136" cy="512064"/>
          </a:xfrm>
          <a:prstGeom prst="rect">
            <a:avLst/>
          </a:prstGeom>
          <a:noFill/>
        </p:spPr>
        <p:txBody>
          <a:bodyPr wrap="square" lIns="0" tIns="0" rIns="0" bIns="0" anchor="t">
            <a:spAutoFit/>
          </a:bodyPr>
          <a:lstStyle/>
          <a:p>
            <a:pPr algn="l">
              <a:lnSpc>
                <a:spcPct val="118000"/>
              </a:lnSpc>
              <a:spcAft>
                <a:spcPts val="0"/>
              </a:spcAft>
            </a:pPr>
            <a:r>
              <a:rPr sz="1150" b="0" i="0">
                <a:solidFill>
                  <a:srgbClr val="0F172A"/>
                </a:solidFill>
                <a:latin typeface="Helvetica Neue"/>
              </a:rPr>
              <a:t>Will it work on my services?</a:t>
            </a:r>
          </a:p>
        </p:txBody>
      </p:sp>
      <p:sp>
        <p:nvSpPr>
          <p:cNvPr id="22" name="TextBox 21"/>
          <p:cNvSpPr txBox="1"/>
          <p:nvPr/>
        </p:nvSpPr>
        <p:spPr>
          <a:xfrm>
            <a:off x="8549640" y="4206240"/>
            <a:ext cx="2688336" cy="768096"/>
          </a:xfrm>
          <a:prstGeom prst="rect">
            <a:avLst/>
          </a:prstGeom>
          <a:noFill/>
        </p:spPr>
        <p:txBody>
          <a:bodyPr wrap="square" lIns="0" tIns="0" rIns="0" bIns="0" anchor="t">
            <a:spAutoFit/>
          </a:bodyPr>
          <a:lstStyle/>
          <a:p>
            <a:pPr algn="l">
              <a:lnSpc>
                <a:spcPct val="118000"/>
              </a:lnSpc>
              <a:spcAft>
                <a:spcPts val="0"/>
              </a:spcAft>
            </a:pPr>
            <a:r>
              <a:rPr sz="1150" b="0" i="0">
                <a:solidFill>
                  <a:srgbClr val="334155"/>
                </a:solidFill>
                <a:latin typeface="Helvetica Neue"/>
              </a:rPr>
              <a:t>If they emit OTel with code.repository and publish an OpenAPI from code, yes.</a:t>
            </a:r>
          </a:p>
        </p:txBody>
      </p:sp>
      <p:sp>
        <p:nvSpPr>
          <p:cNvPr id="23" name="TextBox 22"/>
          <p:cNvSpPr txBox="1"/>
          <p:nvPr/>
        </p:nvSpPr>
        <p:spPr>
          <a:xfrm>
            <a:off x="6172200" y="4919472"/>
            <a:ext cx="2231136" cy="512064"/>
          </a:xfrm>
          <a:prstGeom prst="rect">
            <a:avLst/>
          </a:prstGeom>
          <a:noFill/>
        </p:spPr>
        <p:txBody>
          <a:bodyPr wrap="square" lIns="0" tIns="0" rIns="0" bIns="0" anchor="t">
            <a:spAutoFit/>
          </a:bodyPr>
          <a:lstStyle/>
          <a:p>
            <a:pPr algn="l">
              <a:lnSpc>
                <a:spcPct val="118000"/>
              </a:lnSpc>
              <a:spcAft>
                <a:spcPts val="0"/>
              </a:spcAft>
            </a:pPr>
            <a:r>
              <a:rPr sz="1150" b="0" i="0">
                <a:solidFill>
                  <a:srgbClr val="0F172A"/>
                </a:solidFill>
                <a:latin typeface="Helvetica Neue"/>
              </a:rPr>
              <a:t>Can we run it in production?</a:t>
            </a:r>
          </a:p>
        </p:txBody>
      </p:sp>
      <p:sp>
        <p:nvSpPr>
          <p:cNvPr id="24" name="TextBox 23"/>
          <p:cNvSpPr txBox="1"/>
          <p:nvPr/>
        </p:nvSpPr>
        <p:spPr>
          <a:xfrm>
            <a:off x="8549640" y="4919472"/>
            <a:ext cx="2688336" cy="256032"/>
          </a:xfrm>
          <a:prstGeom prst="rect">
            <a:avLst/>
          </a:prstGeom>
          <a:noFill/>
        </p:spPr>
        <p:txBody>
          <a:bodyPr wrap="square" lIns="0" tIns="0" rIns="0" bIns="0" anchor="t">
            <a:spAutoFit/>
          </a:bodyPr>
          <a:lstStyle/>
          <a:p>
            <a:pPr algn="l">
              <a:lnSpc>
                <a:spcPct val="118000"/>
              </a:lnSpc>
              <a:spcAft>
                <a:spcPts val="0"/>
              </a:spcAft>
            </a:pPr>
            <a:r>
              <a:rPr sz="1150" b="0" i="0">
                <a:solidFill>
                  <a:srgbClr val="334155"/>
                </a:solidFill>
                <a:latin typeface="Helvetica Neue"/>
              </a:rPr>
              <a:t>No. See the prototype slide.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231</TotalTime>
  <Words>3151</Words>
  <Application>Microsoft Macintosh PowerPoint</Application>
  <PresentationFormat>Widescreen</PresentationFormat>
  <Paragraphs>382</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Helvetica Neue</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Pushkar Mishra</cp:lastModifiedBy>
  <cp:revision>2</cp:revision>
  <dcterms:created xsi:type="dcterms:W3CDTF">2013-01-27T09:14:16Z</dcterms:created>
  <dcterms:modified xsi:type="dcterms:W3CDTF">2026-08-13T14:20:24Z</dcterms:modified>
  <cp:category/>
</cp:coreProperties>
</file>